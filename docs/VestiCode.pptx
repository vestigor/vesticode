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老师好，我汇报的项目叫</a:t>
            </a:r>
            <a:r>
              <a:rPr lang="en-US" altLang="zh-CN" dirty="0"/>
              <a:t> VestiCode</a:t>
            </a:r>
            <a:r>
              <a:rPr lang="zh-CN" altLang="en-US" dirty="0"/>
              <a:t>，是一个用</a:t>
            </a:r>
            <a:r>
              <a:rPr lang="en-US" altLang="zh-CN" dirty="0"/>
              <a:t> .NET 10 </a:t>
            </a:r>
            <a:r>
              <a:rPr lang="zh-CN" altLang="en-US" dirty="0"/>
              <a:t>开发的、运行在终端里的自主编码</a:t>
            </a:r>
            <a:r>
              <a:rPr lang="en-US" altLang="zh-CN" dirty="0"/>
              <a:t> AI Agent</a:t>
            </a:r>
            <a:r>
              <a:rPr lang="zh-CN" altLang="en-US" dirty="0"/>
              <a:t>。你用自然语言告诉它要做什么，它会自己思考、自己调用工具去读写文件、执行命令，一步步把编程任务完成。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VestiCode </a:t>
            </a:r>
            <a:r>
              <a:rPr lang="zh-CN" altLang="en-US" dirty="0"/>
              <a:t>的定位是一个</a:t>
            </a:r>
            <a:r>
              <a:rPr lang="en-US" altLang="zh-CN" dirty="0"/>
              <a:t>"</a:t>
            </a:r>
            <a:r>
              <a:rPr lang="zh-CN" altLang="en-US" dirty="0"/>
              <a:t>通用的</a:t>
            </a:r>
            <a:r>
              <a:rPr lang="en-US" altLang="zh-CN" dirty="0"/>
              <a:t>"</a:t>
            </a:r>
            <a:r>
              <a:rPr lang="zh-CN" altLang="en-US" dirty="0"/>
              <a:t>编码</a:t>
            </a:r>
            <a:r>
              <a:rPr lang="en-US" altLang="zh-CN" dirty="0"/>
              <a:t> Agent</a:t>
            </a:r>
            <a:r>
              <a:rPr lang="zh-CN" altLang="en-US" dirty="0"/>
              <a:t>，不是只能做某一件事的脚本。我给它一句话，比如</a:t>
            </a:r>
            <a:r>
              <a:rPr lang="en-US" altLang="zh-CN" dirty="0"/>
              <a:t>"</a:t>
            </a:r>
            <a:r>
              <a:rPr lang="zh-CN" altLang="en-US" dirty="0"/>
              <a:t>帮我读</a:t>
            </a:r>
            <a:r>
              <a:rPr lang="en-US" altLang="zh-CN" dirty="0"/>
              <a:t> README </a:t>
            </a:r>
            <a:r>
              <a:rPr lang="zh-CN" altLang="en-US" dirty="0"/>
              <a:t>再把版本号改成</a:t>
            </a:r>
            <a:r>
              <a:rPr lang="en-US" altLang="zh-CN" dirty="0"/>
              <a:t> 0.2.0"</a:t>
            </a:r>
            <a:r>
              <a:rPr lang="zh-CN" altLang="en-US" dirty="0"/>
              <a:t>，它会自己决定：先调用</a:t>
            </a:r>
            <a:r>
              <a:rPr lang="en-US" altLang="zh-CN" dirty="0"/>
              <a:t> read_file </a:t>
            </a:r>
            <a:r>
              <a:rPr lang="zh-CN" altLang="en-US" dirty="0"/>
              <a:t>看内容，再调用</a:t>
            </a:r>
            <a:r>
              <a:rPr lang="en-US" altLang="zh-CN" dirty="0"/>
              <a:t> edit_file </a:t>
            </a:r>
            <a:r>
              <a:rPr lang="zh-CN" altLang="en-US" dirty="0"/>
              <a:t>去改，全程不需要我手把手指挥。它能读写文件、跑</a:t>
            </a:r>
            <a:r>
              <a:rPr lang="en-US" altLang="zh-CN" dirty="0"/>
              <a:t> shell </a:t>
            </a:r>
            <a:r>
              <a:rPr lang="zh-CN" altLang="en-US" dirty="0"/>
              <a:t>命令、用正则搜代码、联网抓</a:t>
            </a:r>
            <a:r>
              <a:rPr lang="zh-CN" altLang="en-US" dirty="0"/>
              <a:t>取网页。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我采用</a:t>
            </a:r>
            <a:r>
              <a:rPr lang="zh-CN" altLang="en-US" dirty="0"/>
              <a:t>的技术是</a:t>
            </a:r>
            <a:r>
              <a:rPr lang="en-US" altLang="zh-CN" dirty="0"/>
              <a:t> .NET 10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架构上我把领域核心和界面彻底分开：</a:t>
            </a:r>
            <a:r>
              <a:rPr lang="en-US" altLang="zh-CN" dirty="0"/>
              <a:t>Core </a:t>
            </a:r>
            <a:r>
              <a:rPr lang="zh-CN" altLang="en-US" dirty="0"/>
              <a:t>这个项目里是</a:t>
            </a:r>
            <a:r>
              <a:rPr lang="en-US" altLang="zh-CN" dirty="0"/>
              <a:t> Agent </a:t>
            </a:r>
            <a:r>
              <a:rPr lang="zh-CN" altLang="en-US" dirty="0"/>
              <a:t>循环、工具、记忆、安全这些纯逻辑，它完全不知道</a:t>
            </a:r>
            <a:r>
              <a:rPr lang="en-US" altLang="zh-CN" dirty="0"/>
              <a:t>"</a:t>
            </a:r>
            <a:r>
              <a:rPr lang="zh-CN" altLang="en-US" dirty="0"/>
              <a:t>终端</a:t>
            </a:r>
            <a:r>
              <a:rPr lang="en-US" altLang="zh-CN" dirty="0"/>
              <a:t>"</a:t>
            </a:r>
            <a:r>
              <a:rPr lang="zh-CN" altLang="en-US" dirty="0"/>
              <a:t>的存在；</a:t>
            </a:r>
            <a:r>
              <a:rPr lang="en-US" altLang="zh-CN" dirty="0"/>
              <a:t>Cli </a:t>
            </a:r>
            <a:r>
              <a:rPr lang="zh-CN" altLang="en-US" dirty="0"/>
              <a:t>项目负责宿主、依赖注入、配置、日志和终端界面。两者只通过一个</a:t>
            </a:r>
            <a:r>
              <a:rPr lang="en-US" altLang="zh-CN" dirty="0"/>
              <a:t>"</a:t>
            </a:r>
            <a:r>
              <a:rPr lang="zh-CN" altLang="en-US" dirty="0"/>
              <a:t>事件流</a:t>
            </a:r>
            <a:r>
              <a:rPr lang="en-US" altLang="zh-CN" dirty="0"/>
              <a:t>"</a:t>
            </a:r>
            <a:r>
              <a:rPr lang="zh-CN" altLang="en-US" dirty="0"/>
              <a:t>通信</a:t>
            </a:r>
            <a:r>
              <a:rPr lang="en-US" altLang="zh-CN" dirty="0"/>
              <a:t>——</a:t>
            </a:r>
            <a:r>
              <a:rPr lang="zh-CN" altLang="en-US" dirty="0"/>
              <a:t>核心层产出事件，界面层负责渲染。</a:t>
            </a:r>
            <a:endParaRPr lang="en-US" altLang="zh-CN" dirty="0"/>
          </a:p>
          <a:p>
            <a:r>
              <a:rPr lang="zh-CN" altLang="en-US" dirty="0"/>
              <a:t>这样做的好处有两个：第一，同一套核心逻辑以后可以换</a:t>
            </a:r>
            <a:r>
              <a:rPr lang="en-US" altLang="zh-CN" dirty="0"/>
              <a:t> Web </a:t>
            </a:r>
            <a:r>
              <a:rPr lang="zh-CN" altLang="en-US" dirty="0"/>
              <a:t>或桌面前端；第二，核心循环可以被单元测试独立验证，不依赖界面。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 AI Agent </a:t>
            </a:r>
            <a:r>
              <a:rPr lang="zh-CN" altLang="en-US" dirty="0"/>
              <a:t>由四个核心组件构成。</a:t>
            </a:r>
            <a:r>
              <a:rPr lang="en-US" altLang="zh-CN" dirty="0"/>
              <a:t>LLM </a:t>
            </a:r>
            <a:r>
              <a:rPr lang="zh-CN" altLang="en-US" dirty="0"/>
              <a:t>是大脑，负责思考和决策；</a:t>
            </a:r>
            <a:r>
              <a:rPr lang="en-US" altLang="zh-CN" dirty="0"/>
              <a:t>Tools </a:t>
            </a:r>
            <a:r>
              <a:rPr lang="zh-CN" altLang="en-US" dirty="0"/>
              <a:t>是它的手，用来和外界交互；</a:t>
            </a:r>
            <a:r>
              <a:rPr lang="en-US" altLang="zh-CN" dirty="0"/>
              <a:t>Memory </a:t>
            </a:r>
            <a:r>
              <a:rPr lang="zh-CN" altLang="en-US" dirty="0"/>
              <a:t>让它在多轮之间记住上下文；而真正把这三者串起来的是</a:t>
            </a:r>
            <a:r>
              <a:rPr lang="en-US" altLang="zh-CN" dirty="0"/>
              <a:t> Agent Loop</a:t>
            </a:r>
            <a:r>
              <a:rPr lang="zh-CN" altLang="en-US" dirty="0"/>
              <a:t>，也就是控制循环。</a:t>
            </a:r>
            <a:endParaRPr lang="en-US" altLang="zh-CN" dirty="0"/>
          </a:p>
          <a:p>
            <a:r>
              <a:rPr lang="zh-CN" altLang="en-US" dirty="0"/>
              <a:t>其中</a:t>
            </a:r>
            <a:r>
              <a:rPr lang="en-US" altLang="zh-CN" dirty="0"/>
              <a:t>，Agent Loop </a:t>
            </a:r>
            <a:r>
              <a:rPr lang="zh-CN" altLang="en-US" dirty="0"/>
              <a:t>是关键：没有它，</a:t>
            </a:r>
            <a:r>
              <a:rPr lang="en-US" altLang="zh-CN" dirty="0"/>
              <a:t>LLM </a:t>
            </a:r>
            <a:r>
              <a:rPr lang="zh-CN" altLang="en-US" dirty="0"/>
              <a:t>只能一问一答；有了它，</a:t>
            </a:r>
            <a:r>
              <a:rPr lang="en-US" altLang="zh-CN" dirty="0"/>
              <a:t>LLM </a:t>
            </a:r>
            <a:r>
              <a:rPr lang="zh-CN" altLang="en-US" dirty="0"/>
              <a:t>才能</a:t>
            </a:r>
            <a:r>
              <a:rPr lang="en-US" altLang="zh-CN" dirty="0"/>
              <a:t>"</a:t>
            </a:r>
            <a:r>
              <a:rPr lang="zh-CN" altLang="en-US" dirty="0"/>
              <a:t>调用工具</a:t>
            </a:r>
            <a:r>
              <a:rPr lang="en-US" altLang="en-US" dirty="0"/>
              <a:t>→</a:t>
            </a:r>
            <a:r>
              <a:rPr lang="zh-CN" altLang="en-US" dirty="0"/>
              <a:t>看结果</a:t>
            </a:r>
            <a:r>
              <a:rPr lang="en-US" altLang="en-US" dirty="0"/>
              <a:t>→</a:t>
            </a:r>
            <a:r>
              <a:rPr lang="zh-CN" altLang="en-US" dirty="0"/>
              <a:t>再决定下一步</a:t>
            </a:r>
            <a:r>
              <a:rPr lang="en-US" altLang="zh-CN" dirty="0"/>
              <a:t>"</a:t>
            </a:r>
            <a:r>
              <a:rPr lang="zh-CN" altLang="en-US" dirty="0"/>
              <a:t>反复迭代，自我驱动完成复杂任务。</a:t>
            </a:r>
            <a:endParaRPr lang="zh-CN" altLang="en-US" dirty="0"/>
          </a:p>
          <a:p>
            <a:r>
              <a:rPr lang="zh-CN" altLang="en-US" dirty="0"/>
              <a:t>具体架构可以</a:t>
            </a:r>
            <a:r>
              <a:rPr lang="zh-CN" altLang="en-US" dirty="0"/>
              <a:t>看架构图：上半部分是界面层，下半部分是核心层；核心层正中间最大的红色方块就是</a:t>
            </a:r>
            <a:r>
              <a:rPr lang="en-US" altLang="zh-CN" dirty="0"/>
              <a:t> AgentLoop</a:t>
            </a:r>
            <a:r>
              <a:rPr lang="zh-CN" altLang="en-US" dirty="0"/>
              <a:t>，它向左调用</a:t>
            </a:r>
            <a:r>
              <a:rPr lang="en-US" altLang="zh-CN" dirty="0"/>
              <a:t> LLM</a:t>
            </a:r>
            <a:r>
              <a:rPr lang="zh-CN" altLang="en-US" dirty="0"/>
              <a:t>、向右读写记忆、向下经过安全门控去执行工具，同时不断向上抛事件给界面渲染。整个系统就是围着这个循环转的。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Agent </a:t>
            </a:r>
            <a:r>
              <a:rPr lang="zh-CN" altLang="en-US" dirty="0"/>
              <a:t>最基本的工作模式叫</a:t>
            </a:r>
            <a:r>
              <a:rPr lang="en-US" altLang="zh-CN" dirty="0"/>
              <a:t> ReAct</a:t>
            </a:r>
            <a:r>
              <a:rPr lang="zh-CN" altLang="en-US" dirty="0"/>
              <a:t>，是</a:t>
            </a:r>
            <a:r>
              <a:rPr lang="en-US" altLang="zh-CN" dirty="0"/>
              <a:t> Reasoning </a:t>
            </a:r>
            <a:r>
              <a:rPr lang="zh-CN" altLang="en-US" dirty="0"/>
              <a:t>加</a:t>
            </a:r>
            <a:r>
              <a:rPr lang="en-US" altLang="zh-CN" dirty="0"/>
              <a:t> Acting </a:t>
            </a:r>
            <a:r>
              <a:rPr lang="zh-CN" altLang="en-US" dirty="0"/>
              <a:t>的缩写。它的循环是：先</a:t>
            </a:r>
            <a:r>
              <a:rPr lang="en-US" altLang="zh-CN" dirty="0"/>
              <a:t> Thought</a:t>
            </a:r>
            <a:r>
              <a:rPr lang="zh-CN" altLang="en-US" dirty="0"/>
              <a:t>，模型分析当前状态决定下一步做什么；然后</a:t>
            </a:r>
            <a:r>
              <a:rPr lang="en-US" altLang="zh-CN" dirty="0"/>
              <a:t> Action</a:t>
            </a:r>
            <a:r>
              <a:rPr lang="zh-CN" altLang="en-US" dirty="0"/>
              <a:t>，调用一个工具；然后</a:t>
            </a:r>
            <a:r>
              <a:rPr lang="en-US" altLang="zh-CN" dirty="0"/>
              <a:t> Observation</a:t>
            </a:r>
            <a:r>
              <a:rPr lang="zh-CN" altLang="en-US" dirty="0"/>
              <a:t>，拿到工具返回的结果；接着把结果喂回去，重复这个过程，直到模型觉得任务完成、不再需要工具，或者达到最大步数兜底。</a:t>
            </a:r>
            <a:endParaRPr lang="zh-CN" altLang="en-US" dirty="0"/>
          </a:p>
          <a:p>
            <a:r>
              <a:rPr lang="zh-CN" altLang="en-US" dirty="0"/>
              <a:t>每个工具的执行结果，需要回填到对话历史里，让模型在下一轮</a:t>
            </a:r>
            <a:r>
              <a:rPr lang="en-US" altLang="zh-CN" dirty="0"/>
              <a:t>"</a:t>
            </a:r>
            <a:r>
              <a:rPr lang="zh-CN" altLang="en-US" dirty="0"/>
              <a:t>看到</a:t>
            </a:r>
            <a:r>
              <a:rPr lang="en-US" altLang="zh-CN" dirty="0"/>
              <a:t>"</a:t>
            </a:r>
            <a:r>
              <a:rPr lang="zh-CN" altLang="en-US" dirty="0"/>
              <a:t>它，基于真实结果继续推理</a:t>
            </a:r>
            <a:r>
              <a:rPr lang="en-US" altLang="zh-CN" dirty="0"/>
              <a:t>。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这是我的项目的核心循环的流程图，对应代码里的</a:t>
            </a:r>
            <a:r>
              <a:rPr lang="en-US" altLang="zh-CN" dirty="0"/>
              <a:t> AgentLoop.RunAsync </a:t>
            </a:r>
            <a:r>
              <a:rPr lang="zh-CN" altLang="en-US" dirty="0"/>
              <a:t>方法。用户消息进来后，进入一个轮次循环。每一轮里，先做准备</a:t>
            </a:r>
            <a:r>
              <a:rPr lang="en-US" altLang="zh-CN" dirty="0"/>
              <a:t>——</a:t>
            </a:r>
            <a:r>
              <a:rPr lang="zh-CN" altLang="en-US" dirty="0"/>
              <a:t>检查</a:t>
            </a:r>
            <a:r>
              <a:rPr lang="zh-CN" altLang="en-US" dirty="0"/>
              <a:t>取消、检查上下文是否需要压缩、组装要发给模型的消息、生成工具定义；然后流式调用</a:t>
            </a:r>
            <a:r>
              <a:rPr lang="en-US" altLang="zh-CN" dirty="0"/>
              <a:t> LLM</a:t>
            </a:r>
            <a:r>
              <a:rPr lang="zh-CN" altLang="en-US" dirty="0"/>
              <a:t>，边收边把文本和工具调用累积起来。</a:t>
            </a:r>
            <a:endParaRPr lang="zh-CN" altLang="en-US" dirty="0"/>
          </a:p>
          <a:p>
            <a:r>
              <a:rPr lang="en-US" altLang="zh-CN" dirty="0"/>
              <a:t>、</a:t>
            </a:r>
            <a:r>
              <a:rPr lang="zh-CN" altLang="en-US" dirty="0"/>
              <a:t>接着是一个关键判断：模型这一轮有没有请求工具？如果没有，说明任务完成，写入最终答复就结束了；如果有，就先把模型的工具调用记进历史，然后分两批执行</a:t>
            </a:r>
            <a:r>
              <a:rPr lang="en-US" altLang="zh-CN" dirty="0"/>
              <a:t>——</a:t>
            </a:r>
            <a:r>
              <a:rPr lang="zh-CN" altLang="en-US" dirty="0"/>
              <a:t>只读工具并发跑，写工具串行跑，每个结果都回填历史，然后回到循环顶部带着新结果继续。如果一直跑到最大轮次还没完成，就兜底结束。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方法返回类型是</a:t>
            </a:r>
            <a:r>
              <a:rPr lang="en-US" altLang="zh-CN" dirty="0"/>
              <a:t> `async IAsyncEnumerable&lt;AgentEvent&gt;`</a:t>
            </a:r>
            <a:r>
              <a:rPr lang="zh-CN" altLang="en-US" dirty="0"/>
              <a:t>，它意味着循环不是</a:t>
            </a:r>
            <a:r>
              <a:rPr lang="en-US" altLang="zh-CN" dirty="0"/>
              <a:t>"</a:t>
            </a:r>
            <a:r>
              <a:rPr lang="zh-CN" altLang="en-US" dirty="0"/>
              <a:t>算完再一次性返回结果</a:t>
            </a:r>
            <a:r>
              <a:rPr lang="en-US" altLang="zh-CN" dirty="0"/>
              <a:t>"</a:t>
            </a:r>
            <a:r>
              <a:rPr lang="zh-CN" altLang="en-US" dirty="0"/>
              <a:t>，而是边推理边用</a:t>
            </a:r>
            <a:r>
              <a:rPr lang="en-US" altLang="zh-CN" dirty="0"/>
              <a:t> yield </a:t>
            </a:r>
            <a:r>
              <a:rPr lang="zh-CN" altLang="en-US" dirty="0"/>
              <a:t>不断抛出事件</a:t>
            </a:r>
            <a:r>
              <a:rPr lang="en-US" altLang="zh-CN" dirty="0"/>
              <a:t>——</a:t>
            </a:r>
            <a:r>
              <a:rPr lang="zh-CN" altLang="en-US" dirty="0"/>
              <a:t>文本增量、工具调用、工具结果等等。调用方用</a:t>
            </a:r>
            <a:r>
              <a:rPr lang="en-US" altLang="zh-CN" dirty="0"/>
              <a:t> await foreach </a:t>
            </a:r>
            <a:r>
              <a:rPr lang="zh-CN" altLang="en-US" dirty="0"/>
              <a:t>实时消费，这就是流式输出和</a:t>
            </a:r>
            <a:r>
              <a:rPr lang="en-US" altLang="zh-CN" dirty="0"/>
              <a:t>"</a:t>
            </a:r>
            <a:r>
              <a:rPr lang="zh-CN" altLang="en-US" dirty="0"/>
              <a:t>推理过程可观测</a:t>
            </a:r>
            <a:r>
              <a:rPr lang="en-US" altLang="zh-CN" dirty="0"/>
              <a:t>"</a:t>
            </a:r>
            <a:r>
              <a:rPr lang="zh-CN" altLang="en-US" dirty="0"/>
              <a:t>的根基。参数里那个</a:t>
            </a:r>
            <a:r>
              <a:rPr lang="en-US" altLang="zh-CN" dirty="0"/>
              <a:t> EnumeratorCancellation </a:t>
            </a:r>
            <a:r>
              <a:rPr lang="zh-CN" altLang="en-US" dirty="0"/>
              <a:t>特性，是把外层传进来的取消令牌正确绑定到这个异步迭代器，让我按</a:t>
            </a:r>
            <a:r>
              <a:rPr lang="en-US" altLang="zh-CN" dirty="0"/>
              <a:t> Esc </a:t>
            </a:r>
            <a:r>
              <a:rPr lang="zh-CN" altLang="en-US" dirty="0"/>
              <a:t>能中断。</a:t>
            </a:r>
            <a:endParaRPr lang="zh-CN" altLang="en-US" dirty="0"/>
          </a:p>
          <a:p>
            <a:r>
              <a:rPr lang="zh-CN" altLang="en-US" dirty="0"/>
              <a:t>然后是</a:t>
            </a:r>
            <a:r>
              <a:rPr lang="en-US" altLang="zh-CN" dirty="0"/>
              <a:t> for </a:t>
            </a:r>
            <a:r>
              <a:rPr lang="zh-CN" altLang="en-US" dirty="0"/>
              <a:t>轮次循环，</a:t>
            </a:r>
            <a:r>
              <a:rPr lang="en-US" altLang="zh-CN" dirty="0"/>
              <a:t>maxRounds </a:t>
            </a:r>
            <a:r>
              <a:rPr lang="zh-CN" altLang="en-US" dirty="0"/>
              <a:t>是安全护栏，防止模型无限调工具。每轮开头我先组装消息：把系统提示、激活的技能、历史、每轮注入拼在一起，再生成工具定义。</a:t>
            </a:r>
            <a:endParaRPr lang="en-US" altLang="zh-CN" dirty="0"/>
          </a:p>
          <a:p>
            <a:r>
              <a:rPr lang="zh-CN" altLang="en-US" dirty="0"/>
              <a:t>中间这段</a:t>
            </a:r>
            <a:r>
              <a:rPr lang="en-US" altLang="zh-CN" dirty="0"/>
              <a:t> await foreach </a:t>
            </a:r>
            <a:r>
              <a:rPr lang="zh-CN" altLang="en-US" dirty="0"/>
              <a:t>就是</a:t>
            </a:r>
            <a:r>
              <a:rPr lang="en-US" altLang="zh-CN" dirty="0"/>
              <a:t> Thought </a:t>
            </a:r>
            <a:r>
              <a:rPr lang="zh-CN" altLang="en-US" dirty="0"/>
              <a:t>加</a:t>
            </a:r>
            <a:r>
              <a:rPr lang="en-US" altLang="zh-CN" dirty="0"/>
              <a:t> Action </a:t>
            </a:r>
            <a:r>
              <a:rPr lang="zh-CN" altLang="en-US" dirty="0"/>
              <a:t>的产生过程：我流式调用</a:t>
            </a:r>
            <a:r>
              <a:rPr lang="en-US" altLang="zh-CN" dirty="0"/>
              <a:t> LLM</a:t>
            </a:r>
            <a:r>
              <a:rPr lang="zh-CN" altLang="en-US" dirty="0"/>
              <a:t>，模型一边吐文本，一边可能产出工具调用请求。每收到一块，我就立刻</a:t>
            </a:r>
            <a:r>
              <a:rPr lang="en-US" altLang="zh-CN" dirty="0"/>
              <a:t> yield </a:t>
            </a:r>
            <a:r>
              <a:rPr lang="zh-CN" altLang="en-US" dirty="0"/>
              <a:t>出去</a:t>
            </a:r>
            <a:r>
              <a:rPr lang="en-US" altLang="zh-CN" dirty="0"/>
              <a:t>——</a:t>
            </a:r>
            <a:r>
              <a:rPr lang="zh-CN" altLang="en-US" dirty="0"/>
              <a:t>所以用户看到的是逐字蹦出来的效果。同时我把文本累积进</a:t>
            </a:r>
            <a:r>
              <a:rPr lang="en-US" altLang="zh-CN" dirty="0"/>
              <a:t> textBuffer</a:t>
            </a:r>
            <a:r>
              <a:rPr lang="zh-CN" altLang="en-US" dirty="0"/>
              <a:t>、把工具调用累积进</a:t>
            </a:r>
            <a:r>
              <a:rPr lang="en-US" altLang="zh-CN" dirty="0"/>
              <a:t> toolCalls</a:t>
            </a:r>
            <a:r>
              <a:rPr lang="zh-CN" altLang="en-US" dirty="0"/>
              <a:t>，留给本轮后面判断。如果中途出错，比如</a:t>
            </a:r>
            <a:r>
              <a:rPr lang="en-US" altLang="zh-CN" dirty="0"/>
              <a:t> 401</a:t>
            </a:r>
            <a:r>
              <a:rPr lang="zh-CN" altLang="en-US" dirty="0"/>
              <a:t>，我会抛一个</a:t>
            </a:r>
            <a:r>
              <a:rPr lang="en-US" altLang="zh-CN" dirty="0"/>
              <a:t> ErrorEvent </a:t>
            </a:r>
            <a:r>
              <a:rPr lang="zh-CN" altLang="en-US" dirty="0"/>
              <a:t>然后退出，</a:t>
            </a:r>
            <a:r>
              <a:rPr lang="zh-CN" altLang="en-US" dirty="0"/>
              <a:t>确保进程不崩溃。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接着是终止判断：如果这一轮模型没有请求任何工具，就说明它认为任务完成了</a:t>
            </a:r>
            <a:r>
              <a:rPr lang="en-US" altLang="zh-CN" dirty="0"/>
              <a:t>——</a:t>
            </a:r>
            <a:r>
              <a:rPr lang="zh-CN" altLang="en-US" dirty="0"/>
              <a:t>我把最终回复写进历史，抛一个</a:t>
            </a:r>
            <a:r>
              <a:rPr lang="en-US" altLang="zh-CN" dirty="0"/>
              <a:t> Done(NoToolCall)</a:t>
            </a:r>
            <a:r>
              <a:rPr lang="zh-CN" altLang="en-US" dirty="0"/>
              <a:t>，结束循环。</a:t>
            </a:r>
            <a:endParaRPr lang="en-US" altLang="zh-CN" dirty="0"/>
          </a:p>
          <a:p>
            <a:r>
              <a:rPr lang="zh-CN" altLang="en-US" dirty="0"/>
              <a:t>如果有工具调用，把模型这一轮的工具调用作为一条</a:t>
            </a:r>
            <a:r>
              <a:rPr lang="en-US" altLang="zh-CN" dirty="0"/>
              <a:t> assistant </a:t>
            </a:r>
            <a:r>
              <a:rPr lang="zh-CN" altLang="en-US" dirty="0"/>
              <a:t>消息写进历史。</a:t>
            </a:r>
            <a:endParaRPr lang="zh-CN" altLang="en-US" dirty="0"/>
          </a:p>
          <a:p>
            <a:r>
              <a:rPr lang="zh-CN" altLang="en-US" dirty="0"/>
              <a:t>然后按工具类别分两批：只读工具</a:t>
            </a:r>
            <a:r>
              <a:rPr lang="en-US" altLang="zh-CN" dirty="0"/>
              <a:t>——</a:t>
            </a:r>
            <a:r>
              <a:rPr lang="zh-CN" altLang="en-US" dirty="0"/>
              <a:t>比如读文件、搜索</a:t>
            </a:r>
            <a:r>
              <a:rPr lang="en-US" altLang="zh-CN" dirty="0"/>
              <a:t>——</a:t>
            </a:r>
            <a:r>
              <a:rPr lang="zh-CN" altLang="en-US" dirty="0"/>
              <a:t>它们之间没有副作用，所以我用</a:t>
            </a:r>
            <a:r>
              <a:rPr lang="en-US" altLang="zh-CN" dirty="0"/>
              <a:t> Task.WhenAll </a:t>
            </a:r>
            <a:r>
              <a:rPr lang="zh-CN" altLang="en-US" dirty="0"/>
              <a:t>并发执行来提速；写类工具</a:t>
            </a:r>
            <a:r>
              <a:rPr lang="en-US" altLang="zh-CN" dirty="0"/>
              <a:t>——</a:t>
            </a:r>
            <a:r>
              <a:rPr lang="zh-CN" altLang="en-US" dirty="0"/>
              <a:t>写文件、执行命令</a:t>
            </a:r>
            <a:r>
              <a:rPr lang="en-US" altLang="zh-CN" dirty="0"/>
              <a:t>——</a:t>
            </a:r>
            <a:r>
              <a:rPr lang="zh-CN" altLang="en-US" dirty="0"/>
              <a:t>有副作用，必须串行，避免两个写操作抢同一个文件。写类执行前还要过三道关卡：</a:t>
            </a:r>
            <a:r>
              <a:rPr lang="en-US" altLang="zh-CN" dirty="0"/>
              <a:t>plan-only </a:t>
            </a:r>
            <a:r>
              <a:rPr lang="zh-CN" altLang="en-US" dirty="0"/>
              <a:t>模式拦截、安全门控、</a:t>
            </a:r>
            <a:r>
              <a:rPr lang="en-US" altLang="zh-CN" dirty="0"/>
              <a:t>Hook </a:t>
            </a:r>
            <a:r>
              <a:rPr lang="zh-CN" altLang="en-US" dirty="0"/>
              <a:t>拦截。其中安全门控如果判定要确认，就会触发</a:t>
            </a:r>
            <a:r>
              <a:rPr lang="en-US" altLang="zh-CN" dirty="0"/>
              <a:t>"</a:t>
            </a:r>
            <a:r>
              <a:rPr lang="zh-CN" altLang="en-US" dirty="0"/>
              <a:t>人在回路</a:t>
            </a:r>
            <a:r>
              <a:rPr lang="en-US" altLang="zh-CN" dirty="0"/>
              <a:t>"</a:t>
            </a:r>
            <a:r>
              <a:rPr lang="zh-CN" altLang="en-US" dirty="0"/>
              <a:t>。每个工具结果都通过</a:t>
            </a:r>
            <a:r>
              <a:rPr lang="en-US" altLang="zh-CN" dirty="0"/>
              <a:t> AppendToolResult </a:t>
            </a:r>
            <a:r>
              <a:rPr lang="zh-CN" altLang="en-US" dirty="0"/>
              <a:t>回填历史，这就是</a:t>
            </a:r>
            <a:r>
              <a:rPr lang="en-US" altLang="zh-CN" dirty="0"/>
              <a:t> ReAct </a:t>
            </a:r>
            <a:r>
              <a:rPr lang="zh-CN" altLang="en-US" dirty="0"/>
              <a:t>的</a:t>
            </a:r>
            <a:r>
              <a:rPr lang="en-US" altLang="zh-CN" dirty="0"/>
              <a:t> Observation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最后，如果跑满最大轮次还没结束，就抛</a:t>
            </a:r>
            <a:r>
              <a:rPr lang="en-US" altLang="zh-CN" dirty="0"/>
              <a:t> Done(MaxRounds) </a:t>
            </a:r>
            <a:r>
              <a:rPr lang="zh-CN" altLang="en-US" dirty="0"/>
              <a:t>兜底。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工具系统的设计是：每个工具实现统一的</a:t>
            </a:r>
            <a:r>
              <a:rPr lang="en-US" altLang="zh-CN" dirty="0"/>
              <a:t> ITool </a:t>
            </a:r>
            <a:r>
              <a:rPr lang="zh-CN" altLang="en-US" dirty="0"/>
              <a:t>接口，包含名字、描述、参数和类别；</a:t>
            </a:r>
            <a:r>
              <a:rPr lang="en-US" altLang="zh-CN" dirty="0"/>
              <a:t>ToolRegistry </a:t>
            </a:r>
            <a:r>
              <a:rPr lang="zh-CN" altLang="en-US" dirty="0"/>
              <a:t>负责注册查找，并把这些工具的元数据导出成</a:t>
            </a:r>
            <a:r>
              <a:rPr lang="en-US" altLang="zh-CN" dirty="0"/>
              <a:t> LLM </a:t>
            </a:r>
            <a:r>
              <a:rPr lang="zh-CN" altLang="en-US" dirty="0"/>
              <a:t>能理解的</a:t>
            </a:r>
            <a:r>
              <a:rPr lang="en-US" altLang="zh-CN" dirty="0"/>
              <a:t> Function Calling </a:t>
            </a:r>
            <a:r>
              <a:rPr lang="zh-CN" altLang="en-US" dirty="0"/>
              <a:t>定义，随每次请求发给模型；真正执行时，</a:t>
            </a:r>
            <a:r>
              <a:rPr lang="en-US" altLang="zh-CN" dirty="0"/>
              <a:t>ToolExecutor </a:t>
            </a:r>
            <a:r>
              <a:rPr lang="zh-CN" altLang="en-US" dirty="0"/>
              <a:t>会统一包裹超时、异常和日志，最后返回一个</a:t>
            </a:r>
            <a:r>
              <a:rPr lang="en-US" altLang="zh-CN" dirty="0"/>
              <a:t> ToolResult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工具的</a:t>
            </a:r>
            <a:r>
              <a:rPr lang="en-US" altLang="zh-CN" dirty="0"/>
              <a:t> Category</a:t>
            </a:r>
            <a:r>
              <a:rPr lang="zh-CN" altLang="en-US" dirty="0"/>
              <a:t>，也就是读类还是写类，它同时决定了两件事：一是主循环里</a:t>
            </a:r>
            <a:r>
              <a:rPr lang="en-US" altLang="zh-CN" dirty="0"/>
              <a:t>"</a:t>
            </a:r>
            <a:r>
              <a:rPr lang="zh-CN" altLang="en-US" dirty="0"/>
              <a:t>读并发、写串行</a:t>
            </a:r>
            <a:r>
              <a:rPr lang="en-US" altLang="zh-CN" dirty="0"/>
              <a:t>"</a:t>
            </a:r>
            <a:r>
              <a:rPr lang="zh-CN" altLang="en-US" dirty="0"/>
              <a:t>的分批策略；二是安全门控的默认策略，读操作默认放行、写操作默认询问。一个属性同时服务性能和安全，这是我刻意做的统一抽象。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顺便说，工具调用链路里还嵌了安全门控和</a:t>
            </a:r>
            <a:r>
              <a:rPr lang="en-US" altLang="zh-CN" dirty="0"/>
              <a:t> Hook</a:t>
            </a:r>
            <a:r>
              <a:rPr lang="zh-CN" altLang="en-US" dirty="0"/>
              <a:t>，这页的图把完整链路画出来了：从模型产出调用，到注册表查找、安全判定、</a:t>
            </a:r>
            <a:r>
              <a:rPr lang="en-US" altLang="zh-CN" dirty="0"/>
              <a:t>Hook </a:t>
            </a:r>
            <a:r>
              <a:rPr lang="zh-CN" altLang="en-US" dirty="0"/>
              <a:t>前置、执行、回填历史、</a:t>
            </a:r>
            <a:r>
              <a:rPr lang="en-US" altLang="zh-CN" dirty="0"/>
              <a:t>Hook </a:t>
            </a:r>
            <a:r>
              <a:rPr lang="zh-CN" altLang="en-US" dirty="0"/>
              <a:t>后置。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记忆我做了四层。短期记忆就是当前会话的完整消息列表，工具结果会回填进来构成</a:t>
            </a:r>
            <a:r>
              <a:rPr lang="en-US" altLang="zh-CN" dirty="0"/>
              <a:t>"</a:t>
            </a:r>
            <a:r>
              <a:rPr lang="zh-CN" altLang="en-US" dirty="0"/>
              <a:t>工作记忆</a:t>
            </a:r>
            <a:r>
              <a:rPr lang="en-US" altLang="zh-CN" dirty="0"/>
              <a:t>"</a:t>
            </a:r>
            <a:r>
              <a:rPr lang="zh-CN" altLang="en-US" dirty="0"/>
              <a:t>。持久记忆是把会话写成</a:t>
            </a:r>
            <a:r>
              <a:rPr lang="en-US" altLang="zh-CN" dirty="0"/>
              <a:t> jsonl </a:t>
            </a:r>
            <a:r>
              <a:rPr lang="zh-CN" altLang="en-US" dirty="0"/>
              <a:t>文件，每轮追加，所以是</a:t>
            </a:r>
            <a:r>
              <a:rPr lang="en-US" altLang="zh-CN" dirty="0"/>
              <a:t> O(1)</a:t>
            </a:r>
            <a:r>
              <a:rPr lang="zh-CN" altLang="en-US" dirty="0"/>
              <a:t>；它还支持崩溃恢复</a:t>
            </a:r>
            <a:r>
              <a:rPr lang="en-US" altLang="zh-CN" dirty="0"/>
              <a:t>——</a:t>
            </a:r>
            <a:r>
              <a:rPr lang="zh-CN" altLang="en-US" dirty="0"/>
              <a:t>加载时会跳过损坏的行、在没配对的工具调用处截断；用</a:t>
            </a:r>
            <a:r>
              <a:rPr lang="en-US" altLang="zh-CN" dirty="0"/>
              <a:t> --resume </a:t>
            </a:r>
            <a:r>
              <a:rPr lang="zh-CN" altLang="en-US" dirty="0"/>
              <a:t>可以恢复上次会话。</a:t>
            </a:r>
            <a:endParaRPr lang="zh-CN" altLang="en-US" dirty="0"/>
          </a:p>
          <a:p>
            <a:r>
              <a:rPr lang="zh-CN" altLang="en-US" dirty="0"/>
              <a:t>中间这层是上下文压缩，：我做成了两段式</a:t>
            </a:r>
            <a:r>
              <a:rPr lang="en-US" altLang="zh-CN" dirty="0"/>
              <a:t>——token </a:t>
            </a:r>
            <a:r>
              <a:rPr lang="zh-CN" altLang="en-US" dirty="0"/>
              <a:t>用到窗口的</a:t>
            </a:r>
            <a:r>
              <a:rPr lang="en-US" altLang="zh-CN" dirty="0"/>
              <a:t> 70% </a:t>
            </a:r>
            <a:r>
              <a:rPr lang="zh-CN" altLang="en-US" dirty="0"/>
              <a:t>时只发一个警告，不动历史；到</a:t>
            </a:r>
            <a:r>
              <a:rPr lang="en-US" altLang="zh-CN" dirty="0"/>
              <a:t> 90% </a:t>
            </a:r>
            <a:r>
              <a:rPr lang="zh-CN" altLang="en-US" dirty="0"/>
              <a:t>才真正调用</a:t>
            </a:r>
            <a:r>
              <a:rPr lang="en-US" altLang="zh-CN" dirty="0"/>
              <a:t> LLM </a:t>
            </a:r>
            <a:r>
              <a:rPr lang="zh-CN" altLang="en-US" dirty="0"/>
              <a:t>生成一份结构化摘要去替换早期消息，同时保留最近</a:t>
            </a:r>
            <a:r>
              <a:rPr lang="en-US" altLang="zh-CN" dirty="0"/>
              <a:t> 4 </a:t>
            </a:r>
            <a:r>
              <a:rPr lang="zh-CN" altLang="en-US" dirty="0"/>
              <a:t>条原文，兼顾</a:t>
            </a:r>
            <a:r>
              <a:rPr lang="en-US" altLang="zh-CN" dirty="0"/>
              <a:t>"</a:t>
            </a:r>
            <a:r>
              <a:rPr lang="zh-CN" altLang="en-US" dirty="0"/>
              <a:t>记得久</a:t>
            </a:r>
            <a:r>
              <a:rPr lang="en-US" altLang="zh-CN" dirty="0"/>
              <a:t>"</a:t>
            </a:r>
            <a:r>
              <a:rPr lang="zh-CN" altLang="en-US" dirty="0"/>
              <a:t>和</a:t>
            </a:r>
            <a:r>
              <a:rPr lang="en-US" altLang="zh-CN" dirty="0"/>
              <a:t>"</a:t>
            </a:r>
            <a:r>
              <a:rPr lang="zh-CN" altLang="en-US" dirty="0"/>
              <a:t>记得清</a:t>
            </a:r>
            <a:r>
              <a:rPr lang="en-US" altLang="zh-CN" dirty="0"/>
              <a:t>"</a:t>
            </a:r>
            <a:r>
              <a:rPr lang="zh-CN" altLang="en-US" dirty="0"/>
              <a:t>。如果摘要连续失败两次，会触发熔断停止自动压缩，避免反复烧</a:t>
            </a:r>
            <a:r>
              <a:rPr lang="en-US" altLang="zh-CN" dirty="0"/>
              <a:t> token</a:t>
            </a:r>
            <a:r>
              <a:rPr lang="zh-CN" altLang="en-US" dirty="0"/>
              <a:t>，手动</a:t>
            </a:r>
            <a:r>
              <a:rPr lang="en-US" altLang="zh-CN" dirty="0"/>
              <a:t> /compress </a:t>
            </a:r>
            <a:r>
              <a:rPr lang="zh-CN" altLang="en-US" dirty="0"/>
              <a:t>可以复位。</a:t>
            </a:r>
            <a:endParaRPr lang="en-US" altLang="zh-CN" dirty="0"/>
          </a:p>
          <a:p>
            <a:r>
              <a:rPr lang="zh-CN" altLang="en-US" dirty="0"/>
              <a:t>最后是长期记忆：每</a:t>
            </a:r>
            <a:r>
              <a:rPr lang="en-US" altLang="zh-CN" dirty="0"/>
              <a:t> 5 </a:t>
            </a:r>
            <a:r>
              <a:rPr lang="zh-CN" altLang="en-US" dirty="0"/>
              <a:t>轮调一次</a:t>
            </a:r>
            <a:r>
              <a:rPr lang="en-US" altLang="zh-CN" dirty="0"/>
              <a:t> LLM</a:t>
            </a:r>
            <a:r>
              <a:rPr lang="zh-CN" altLang="en-US" dirty="0"/>
              <a:t>，按用户偏好、纠正反馈、项目知识、参考资料四类增量提炼笔记，跨会话可用。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安全是纵深防御，分三层、按顺序判定。第一层是命令黑名单，像</a:t>
            </a:r>
            <a:r>
              <a:rPr lang="en-US" altLang="zh-CN" dirty="0"/>
              <a:t> rm -rf </a:t>
            </a:r>
            <a:r>
              <a:rPr lang="zh-CN" altLang="en-US" dirty="0"/>
              <a:t>根目录、</a:t>
            </a:r>
            <a:r>
              <a:rPr lang="en-US" altLang="zh-CN" dirty="0"/>
              <a:t>fork bomb </a:t>
            </a:r>
            <a:r>
              <a:rPr lang="zh-CN" altLang="en-US" dirty="0"/>
              <a:t>这类灾难命令，在任何档位都直接拒绝，而且复合命令我会按分隔符逐段检查，防止用</a:t>
            </a:r>
            <a:r>
              <a:rPr lang="en-US" altLang="zh-CN" dirty="0"/>
              <a:t> ls &amp;&amp; rm </a:t>
            </a:r>
            <a:r>
              <a:rPr lang="zh-CN" altLang="en-US" dirty="0"/>
              <a:t>这种方式绕过。第二层是路径沙箱，写操作不能越出项目目录。第三层是档位策略，默认的</a:t>
            </a:r>
            <a:r>
              <a:rPr lang="en-US" altLang="zh-CN" dirty="0"/>
              <a:t> normal </a:t>
            </a:r>
            <a:r>
              <a:rPr lang="zh-CN" altLang="en-US" dirty="0"/>
              <a:t>档是读放行、写询问。</a:t>
            </a:r>
            <a:endParaRPr lang="zh-CN" altLang="en-US" dirty="0"/>
          </a:p>
          <a:p>
            <a:r>
              <a:rPr lang="zh-CN" altLang="en-US" dirty="0"/>
              <a:t>其中</a:t>
            </a:r>
            <a:r>
              <a:rPr lang="en-US" altLang="zh-CN" dirty="0"/>
              <a:t>"</a:t>
            </a:r>
            <a:r>
              <a:rPr lang="zh-CN" altLang="en-US" dirty="0"/>
              <a:t>写询问</a:t>
            </a:r>
            <a:r>
              <a:rPr lang="en-US" altLang="zh-CN" dirty="0"/>
              <a:t>"</a:t>
            </a:r>
            <a:r>
              <a:rPr lang="zh-CN" altLang="en-US" dirty="0"/>
              <a:t>就是人在回路</a:t>
            </a:r>
            <a:r>
              <a:rPr lang="en-US" altLang="zh-CN" dirty="0"/>
              <a:t> HITL</a:t>
            </a:r>
            <a:r>
              <a:rPr lang="zh-CN" altLang="en-US" dirty="0"/>
              <a:t>：当模型要做有风险的写操作时，会弹出一个确认框，我可以按</a:t>
            </a:r>
            <a:r>
              <a:rPr lang="en-US" altLang="zh-CN" dirty="0"/>
              <a:t> A </a:t>
            </a:r>
            <a:r>
              <a:rPr lang="zh-CN" altLang="en-US" dirty="0"/>
              <a:t>允许这一次、</a:t>
            </a:r>
            <a:r>
              <a:rPr lang="en-US" altLang="zh-CN" dirty="0"/>
              <a:t>S </a:t>
            </a:r>
            <a:r>
              <a:rPr lang="zh-CN" altLang="en-US" dirty="0"/>
              <a:t>允许整个会话、</a:t>
            </a:r>
            <a:r>
              <a:rPr lang="en-US" altLang="zh-CN" dirty="0"/>
              <a:t>P </a:t>
            </a:r>
            <a:r>
              <a:rPr lang="zh-CN" altLang="en-US" dirty="0"/>
              <a:t>项目永久允许并写进规则文件、或者</a:t>
            </a:r>
            <a:r>
              <a:rPr lang="en-US" altLang="zh-CN" dirty="0"/>
              <a:t> D </a:t>
            </a:r>
            <a:r>
              <a:rPr lang="zh-CN" altLang="en-US" dirty="0"/>
              <a:t>拒绝。拒绝的话，拒绝原因会回灌给模型，让它换一种做法。</a:t>
            </a:r>
            <a:endParaRPr lang="zh-CN" altLang="en-US" dirty="0"/>
          </a:p>
          <a:p>
            <a:r>
              <a:rPr lang="zh-CN" altLang="en-US" dirty="0"/>
              <a:t>在循环里</a:t>
            </a:r>
            <a:r>
              <a:rPr lang="en-US" altLang="zh-CN" dirty="0"/>
              <a:t> yield </a:t>
            </a:r>
            <a:r>
              <a:rPr lang="zh-CN" altLang="en-US" dirty="0"/>
              <a:t>出一个</a:t>
            </a:r>
            <a:r>
              <a:rPr lang="en-US" altLang="zh-CN" dirty="0"/>
              <a:t> HITL </a:t>
            </a:r>
            <a:r>
              <a:rPr lang="zh-CN" altLang="en-US" dirty="0"/>
              <a:t>请求，附带一个</a:t>
            </a:r>
            <a:r>
              <a:rPr lang="en-US" altLang="zh-CN" dirty="0"/>
              <a:t> TaskCompletionSource</a:t>
            </a:r>
            <a:r>
              <a:rPr lang="zh-CN" altLang="en-US" dirty="0"/>
              <a:t>，然后</a:t>
            </a:r>
            <a:r>
              <a:rPr lang="en-US" altLang="zh-CN" dirty="0"/>
              <a:t> await </a:t>
            </a:r>
            <a:r>
              <a:rPr lang="zh-CN" altLang="en-US" dirty="0"/>
              <a:t>它</a:t>
            </a:r>
            <a:r>
              <a:rPr lang="en-US" altLang="zh-CN" dirty="0"/>
              <a:t>，</a:t>
            </a:r>
            <a:r>
              <a:rPr lang="zh-CN" altLang="en-US" dirty="0"/>
              <a:t>这样就把</a:t>
            </a:r>
            <a:r>
              <a:rPr lang="en-US" altLang="zh-CN" dirty="0"/>
              <a:t>"</a:t>
            </a:r>
            <a:r>
              <a:rPr lang="zh-CN" altLang="en-US" dirty="0"/>
              <a:t>等用户按键</a:t>
            </a:r>
            <a:r>
              <a:rPr lang="en-US" altLang="zh-CN" dirty="0"/>
              <a:t>"</a:t>
            </a:r>
            <a:r>
              <a:rPr lang="zh-CN" altLang="en-US" dirty="0"/>
              <a:t>变成了不阻塞线程的异步等待，界面读到按键后设置结果，</a:t>
            </a:r>
            <a:r>
              <a:rPr lang="en-US" altLang="zh-CN" dirty="0"/>
              <a:t>await </a:t>
            </a:r>
            <a:r>
              <a:rPr lang="zh-CN" altLang="en-US" dirty="0"/>
              <a:t>处就恢复。整个过程不占线程，按</a:t>
            </a:r>
            <a:r>
              <a:rPr lang="en-US" altLang="zh-CN" dirty="0"/>
              <a:t> Esc </a:t>
            </a:r>
            <a:r>
              <a:rPr lang="zh-CN" altLang="en-US" dirty="0"/>
              <a:t>仍然有响应。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</a:t>
            </a:r>
            <a:r>
              <a:rPr lang="en-US" altLang="zh-CN" dirty="0"/>
              <a:t> Provider </a:t>
            </a:r>
            <a:r>
              <a:rPr lang="zh-CN" altLang="en-US" dirty="0"/>
              <a:t>的设计目标是</a:t>
            </a:r>
            <a:r>
              <a:rPr lang="en-US" altLang="zh-CN" dirty="0"/>
              <a:t>"</a:t>
            </a:r>
            <a:r>
              <a:rPr lang="zh-CN" altLang="en-US" dirty="0"/>
              <a:t>用户配置极简、扩展零改码</a:t>
            </a:r>
            <a:r>
              <a:rPr lang="en-US" altLang="zh-CN" dirty="0"/>
              <a:t>"</a:t>
            </a:r>
            <a:r>
              <a:rPr lang="zh-CN" altLang="en-US" dirty="0"/>
              <a:t>。用户只需要填三样：</a:t>
            </a:r>
            <a:r>
              <a:rPr lang="en-US" altLang="zh-CN" dirty="0"/>
              <a:t>Name</a:t>
            </a:r>
            <a:r>
              <a:rPr lang="zh-CN" altLang="en-US" dirty="0"/>
              <a:t>、</a:t>
            </a:r>
            <a:r>
              <a:rPr lang="en-US" altLang="zh-CN" dirty="0"/>
              <a:t>Model</a:t>
            </a:r>
            <a:r>
              <a:rPr lang="zh-CN" altLang="en-US" dirty="0"/>
              <a:t>、</a:t>
            </a:r>
            <a:r>
              <a:rPr lang="en-US" altLang="zh-CN" dirty="0"/>
              <a:t>ApiKey</a:t>
            </a:r>
            <a:r>
              <a:rPr lang="zh-CN" altLang="en-US" dirty="0"/>
              <a:t>。至于用什么协议、连哪个地址，由一份内置的</a:t>
            </a:r>
            <a:r>
              <a:rPr lang="en-US" altLang="zh-CN" dirty="0"/>
              <a:t> providers.json </a:t>
            </a:r>
            <a:r>
              <a:rPr lang="zh-CN" altLang="en-US" dirty="0"/>
              <a:t>推导表自动决定。要加一个新后端，比如</a:t>
            </a:r>
            <a:r>
              <a:rPr lang="en-US" altLang="zh-CN" dirty="0"/>
              <a:t> Kimi</a:t>
            </a:r>
            <a:r>
              <a:rPr lang="zh-CN" altLang="en-US" dirty="0"/>
              <a:t>、智谱、本地</a:t>
            </a:r>
            <a:r>
              <a:rPr lang="en-US" altLang="zh-CN" dirty="0"/>
              <a:t> Ollama</a:t>
            </a:r>
            <a:r>
              <a:rPr lang="zh-CN" altLang="en-US" dirty="0"/>
              <a:t>，只要在这张表里加一行映射就行，不用改代码。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协议层面我实现了</a:t>
            </a:r>
            <a:r>
              <a:rPr lang="en-US" altLang="zh-CN" dirty="0"/>
              <a:t> OpenAI </a:t>
            </a:r>
            <a:r>
              <a:rPr lang="zh-CN" altLang="en-US" dirty="0"/>
              <a:t>和</a:t>
            </a:r>
            <a:r>
              <a:rPr lang="en-US" altLang="zh-CN" dirty="0"/>
              <a:t> Anthropic </a:t>
            </a:r>
            <a:r>
              <a:rPr lang="zh-CN" altLang="en-US" dirty="0"/>
              <a:t>两套；</a:t>
            </a:r>
            <a:r>
              <a:rPr lang="en-US" altLang="zh-CN" dirty="0"/>
              <a:t>DeepSeek </a:t>
            </a:r>
            <a:r>
              <a:rPr lang="zh-CN" altLang="en-US" dirty="0"/>
              <a:t>因为是</a:t>
            </a:r>
            <a:r>
              <a:rPr lang="en-US" altLang="zh-CN" dirty="0"/>
              <a:t> OpenAI </a:t>
            </a:r>
            <a:r>
              <a:rPr lang="zh-CN" altLang="en-US" dirty="0"/>
              <a:t>兼容的，直接复用</a:t>
            </a:r>
            <a:r>
              <a:rPr lang="en-US" altLang="zh-CN" dirty="0"/>
              <a:t> OpenAI </a:t>
            </a:r>
            <a:r>
              <a:rPr lang="zh-CN" altLang="en-US" dirty="0"/>
              <a:t>协议实现。所有</a:t>
            </a:r>
            <a:r>
              <a:rPr lang="en-US" altLang="zh-CN" dirty="0"/>
              <a:t> Provider </a:t>
            </a:r>
            <a:r>
              <a:rPr lang="zh-CN" altLang="en-US" dirty="0"/>
              <a:t>都实现同一个接口的</a:t>
            </a:r>
            <a:r>
              <a:rPr lang="en-US" altLang="zh-CN" dirty="0"/>
              <a:t> ChatStreamAsync </a:t>
            </a:r>
            <a:r>
              <a:rPr lang="zh-CN" altLang="en-US" dirty="0"/>
              <a:t>方法，返回一个异步流，内部解析</a:t>
            </a:r>
            <a:r>
              <a:rPr lang="en-US" altLang="zh-CN" dirty="0"/>
              <a:t> SSE</a:t>
            </a:r>
            <a:r>
              <a:rPr lang="zh-CN" altLang="en-US" dirty="0"/>
              <a:t>，逐块产出文本、思考、工具调用、用量这些事件。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流程是这样的：我下达一个目标后，</a:t>
            </a:r>
            <a:r>
              <a:rPr lang="en-US" altLang="zh-CN" dirty="0"/>
              <a:t>Lead </a:t>
            </a:r>
            <a:r>
              <a:rPr lang="zh-CN" altLang="en-US" dirty="0"/>
              <a:t>用</a:t>
            </a:r>
            <a:r>
              <a:rPr lang="en-US" altLang="zh-CN" dirty="0"/>
              <a:t> LLM </a:t>
            </a:r>
            <a:r>
              <a:rPr lang="zh-CN" altLang="en-US" dirty="0"/>
              <a:t>把它拆解成若干子任务，拆解时会综合</a:t>
            </a:r>
            <a:r>
              <a:rPr lang="en-US" altLang="zh-CN" dirty="0"/>
              <a:t>"</a:t>
            </a:r>
            <a:r>
              <a:rPr lang="zh-CN" altLang="en-US" dirty="0"/>
              <a:t>目标、每个成员的角色、当前项目的文件结构</a:t>
            </a:r>
            <a:r>
              <a:rPr lang="en-US" altLang="zh-CN" dirty="0"/>
              <a:t>"</a:t>
            </a:r>
            <a:r>
              <a:rPr lang="zh-CN" altLang="en-US" dirty="0"/>
              <a:t>，特意按文件边界来切分，让不同成员改不同的文件，避免冲突。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然后每个成员在自己独立的</a:t>
            </a:r>
            <a:r>
              <a:rPr lang="en-US" altLang="zh-CN" dirty="0"/>
              <a:t> git worktree </a:t>
            </a:r>
            <a:r>
              <a:rPr lang="zh-CN" altLang="en-US" dirty="0"/>
              <a:t>里工作</a:t>
            </a:r>
            <a:r>
              <a:rPr lang="en-US" altLang="zh-CN" dirty="0"/>
              <a:t>——worktree </a:t>
            </a:r>
            <a:r>
              <a:rPr lang="zh-CN" altLang="en-US" dirty="0"/>
              <a:t>是</a:t>
            </a:r>
            <a:r>
              <a:rPr lang="en-US" altLang="zh-CN" dirty="0"/>
              <a:t> git </a:t>
            </a:r>
            <a:r>
              <a:rPr lang="zh-CN" altLang="en-US" dirty="0"/>
              <a:t>的特性，相当于给每个成员一个隔离的工作目录加独立分支，这样多个成员并发改文件互不干扰。成员干完各自提交到自己的分支。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最后</a:t>
            </a:r>
            <a:r>
              <a:rPr lang="en-US" altLang="zh-CN" dirty="0"/>
              <a:t> Lead </a:t>
            </a:r>
            <a:r>
              <a:rPr lang="zh-CN" altLang="en-US" dirty="0"/>
              <a:t>用</a:t>
            </a:r>
            <a:r>
              <a:rPr lang="en-US" altLang="zh-CN" dirty="0"/>
              <a:t> GitMerger </a:t>
            </a:r>
            <a:r>
              <a:rPr lang="zh-CN" altLang="en-US" dirty="0"/>
              <a:t>把各分支合并回主干：没冲突就直接合，有冲突会调</a:t>
            </a:r>
            <a:r>
              <a:rPr lang="en-US" altLang="zh-CN" dirty="0"/>
              <a:t> LLM </a:t>
            </a:r>
            <a:r>
              <a:rPr lang="zh-CN" altLang="en-US" dirty="0"/>
              <a:t>逐文件裁决，裁决不了就回滚上报。合并完</a:t>
            </a:r>
            <a:r>
              <a:rPr lang="en-US" altLang="zh-CN" dirty="0"/>
              <a:t> Lead </a:t>
            </a:r>
            <a:r>
              <a:rPr lang="zh-CN" altLang="en-US" dirty="0"/>
              <a:t>再用</a:t>
            </a:r>
            <a:r>
              <a:rPr lang="en-US" altLang="zh-CN" dirty="0"/>
              <a:t> LLM </a:t>
            </a:r>
            <a:r>
              <a:rPr lang="zh-CN" altLang="en-US" dirty="0"/>
              <a:t>把各成员的产出综合成一份最终报告。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这套用</a:t>
            </a:r>
            <a:r>
              <a:rPr lang="en-US" altLang="zh-CN" dirty="0"/>
              <a:t> git worktree </a:t>
            </a:r>
            <a:r>
              <a:rPr lang="zh-CN" altLang="en-US" dirty="0"/>
              <a:t>做物理隔离、再用</a:t>
            </a:r>
            <a:r>
              <a:rPr lang="en-US" altLang="zh-CN" dirty="0"/>
              <a:t> merge </a:t>
            </a:r>
            <a:r>
              <a:rPr lang="zh-CN" altLang="en-US" dirty="0"/>
              <a:t>汇总的设计，是我解决</a:t>
            </a:r>
            <a:r>
              <a:rPr lang="en-US" altLang="zh-CN" dirty="0"/>
              <a:t>"</a:t>
            </a:r>
            <a:r>
              <a:rPr lang="zh-CN" altLang="en-US" dirty="0"/>
              <a:t>多</a:t>
            </a:r>
            <a:r>
              <a:rPr lang="en-US" altLang="zh-CN" dirty="0"/>
              <a:t> Agent </a:t>
            </a:r>
            <a:r>
              <a:rPr lang="zh-CN" altLang="en-US" dirty="0"/>
              <a:t>并行改文件</a:t>
            </a:r>
            <a:r>
              <a:rPr lang="en-US" altLang="zh-CN" dirty="0"/>
              <a:t>"</a:t>
            </a:r>
            <a:r>
              <a:rPr lang="zh-CN" altLang="en-US" dirty="0"/>
              <a:t>问题的核心思路。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除了核心，我还实现了一组扩展能力。</a:t>
            </a:r>
            <a:r>
              <a:rPr lang="en-US" altLang="zh-CN" dirty="0"/>
              <a:t>MCP </a:t>
            </a:r>
            <a:r>
              <a:rPr lang="zh-CN" altLang="en-US" dirty="0"/>
              <a:t>客户端，可以连接外部的</a:t>
            </a:r>
            <a:r>
              <a:rPr lang="en-US" altLang="zh-CN" dirty="0"/>
              <a:t> MCP server</a:t>
            </a:r>
            <a:r>
              <a:rPr lang="zh-CN" altLang="en-US" dirty="0"/>
              <a:t>，把它们的工具动态注册进来用。</a:t>
            </a:r>
            <a:r>
              <a:rPr lang="en-US" altLang="zh-CN" dirty="0"/>
              <a:t>Skill </a:t>
            </a:r>
            <a:r>
              <a:rPr lang="zh-CN" altLang="en-US" dirty="0"/>
              <a:t>系统，是把一段专业的标准作业流程写成</a:t>
            </a:r>
            <a:r>
              <a:rPr lang="en-US" altLang="zh-CN" dirty="0"/>
              <a:t> YAML </a:t>
            </a:r>
            <a:r>
              <a:rPr lang="zh-CN" altLang="en-US" dirty="0"/>
              <a:t>加</a:t>
            </a:r>
            <a:r>
              <a:rPr lang="en-US" altLang="zh-CN" dirty="0"/>
              <a:t> Markdown</a:t>
            </a:r>
            <a:r>
              <a:rPr lang="zh-CN" altLang="en-US" dirty="0"/>
              <a:t>，激活后注入提示，还能限定</a:t>
            </a:r>
            <a:r>
              <a:rPr lang="en-US" altLang="zh-CN" dirty="0"/>
              <a:t> Agent </a:t>
            </a:r>
            <a:r>
              <a:rPr lang="zh-CN" altLang="en-US" dirty="0"/>
              <a:t>这一轮只看得到某些工具。</a:t>
            </a:r>
            <a:r>
              <a:rPr lang="en-US" altLang="zh-CN" dirty="0"/>
              <a:t>Hook </a:t>
            </a:r>
            <a:r>
              <a:rPr lang="zh-CN" altLang="en-US" dirty="0"/>
              <a:t>是生命周期钩子，可以在工具执行前后做拦截或记录，比如拦截危险命令、记录文件改动。子</a:t>
            </a:r>
            <a:r>
              <a:rPr lang="en-US" altLang="zh-CN" dirty="0"/>
              <a:t> Agent </a:t>
            </a:r>
            <a:r>
              <a:rPr lang="zh-CN" altLang="en-US" dirty="0"/>
              <a:t>是把探索、规划这类子任务委派给受约束的小</a:t>
            </a:r>
            <a:r>
              <a:rPr lang="en-US" altLang="zh-CN" dirty="0"/>
              <a:t> Agent</a:t>
            </a:r>
            <a:r>
              <a:rPr lang="zh-CN" altLang="en-US" dirty="0"/>
              <a:t>，并且禁止递归创建防止失控。还有</a:t>
            </a:r>
            <a:r>
              <a:rPr lang="en-US" altLang="zh-CN" dirty="0"/>
              <a:t> worktree </a:t>
            </a:r>
            <a:r>
              <a:rPr lang="zh-CN" altLang="en-US" dirty="0"/>
              <a:t>隔离工作区，和把主</a:t>
            </a:r>
            <a:r>
              <a:rPr lang="en-US" altLang="zh-CN" dirty="0"/>
              <a:t> Agent </a:t>
            </a:r>
            <a:r>
              <a:rPr lang="zh-CN" altLang="en-US" dirty="0"/>
              <a:t>切成</a:t>
            </a:r>
            <a:r>
              <a:rPr lang="en-US" altLang="zh-CN" dirty="0"/>
              <a:t>"</a:t>
            </a:r>
            <a:r>
              <a:rPr lang="zh-CN" altLang="en-US" dirty="0"/>
              <a:t>只指挥不动手</a:t>
            </a:r>
            <a:r>
              <a:rPr lang="en-US" altLang="zh-CN" dirty="0"/>
              <a:t>"</a:t>
            </a:r>
            <a:r>
              <a:rPr lang="zh-CN" altLang="en-US" dirty="0"/>
              <a:t>的调度模式。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在项目中，我运用了多种</a:t>
            </a:r>
            <a:r>
              <a:rPr lang="en-US" altLang="zh-CN" dirty="0"/>
              <a:t> .NET </a:t>
            </a:r>
            <a:r>
              <a:rPr lang="zh-CN" altLang="en-US" dirty="0"/>
              <a:t>的特性。依赖注入方面，所有组件都是构造注入；而且我用了一个</a:t>
            </a:r>
            <a:r>
              <a:rPr lang="en-US" altLang="zh-CN" dirty="0"/>
              <a:t>"</a:t>
            </a:r>
            <a:r>
              <a:rPr lang="zh-CN" altLang="en-US" dirty="0"/>
              <a:t>可选依赖</a:t>
            </a:r>
            <a:r>
              <a:rPr lang="en-US" altLang="zh-CN" dirty="0"/>
              <a:t>"</a:t>
            </a:r>
            <a:r>
              <a:rPr lang="zh-CN" altLang="en-US" dirty="0"/>
              <a:t>的模式</a:t>
            </a:r>
            <a:r>
              <a:rPr lang="en-US" altLang="zh-CN" dirty="0"/>
              <a:t>——</a:t>
            </a:r>
            <a:r>
              <a:rPr lang="zh-CN" altLang="en-US" dirty="0"/>
              <a:t>非核心能力用可空构造参数注入，缺省就是关闭，这样同一个</a:t>
            </a:r>
            <a:r>
              <a:rPr lang="en-US" altLang="zh-CN" dirty="0"/>
              <a:t> AgentLoop </a:t>
            </a:r>
            <a:r>
              <a:rPr lang="zh-CN" altLang="en-US" dirty="0"/>
              <a:t>既能全功能跑，也能在测试里以最小依赖跑。</a:t>
            </a:r>
            <a:endParaRPr lang="zh-CN" altLang="en-US" dirty="0"/>
          </a:p>
          <a:p>
            <a:r>
              <a:rPr lang="zh-CN" altLang="en-US" dirty="0"/>
              <a:t>配置用的是</a:t>
            </a:r>
            <a:r>
              <a:rPr lang="en-US" altLang="zh-CN" dirty="0"/>
              <a:t> Generic Host </a:t>
            </a:r>
            <a:r>
              <a:rPr lang="zh-CN" altLang="en-US" dirty="0"/>
              <a:t>加分层配置，从全局、项目、环境变量到</a:t>
            </a:r>
            <a:r>
              <a:rPr lang="en-US" altLang="zh-CN" dirty="0"/>
              <a:t> UserSecrets </a:t>
            </a:r>
            <a:r>
              <a:rPr lang="zh-CN" altLang="en-US" dirty="0"/>
              <a:t>层层叠加，</a:t>
            </a:r>
            <a:r>
              <a:rPr lang="en-US" altLang="zh-CN" dirty="0"/>
              <a:t>API Key </a:t>
            </a:r>
            <a:r>
              <a:rPr lang="zh-CN" altLang="en-US" dirty="0"/>
              <a:t>放在</a:t>
            </a:r>
            <a:r>
              <a:rPr lang="en-US" altLang="zh-CN" dirty="0"/>
              <a:t> UserSecrets </a:t>
            </a:r>
            <a:r>
              <a:rPr lang="zh-CN" altLang="en-US" dirty="0"/>
              <a:t>或环境变量里，不会进仓库。</a:t>
            </a:r>
            <a:endParaRPr lang="zh-CN" altLang="en-US" dirty="0"/>
          </a:p>
          <a:p>
            <a:r>
              <a:rPr lang="zh-CN" altLang="en-US" dirty="0"/>
              <a:t>日志</a:t>
            </a:r>
            <a:r>
              <a:rPr lang="zh-CN" altLang="en-US" dirty="0"/>
              <a:t>使用</a:t>
            </a:r>
            <a:r>
              <a:rPr lang="en-US" altLang="zh-CN" dirty="0"/>
              <a:t> Serilog </a:t>
            </a:r>
            <a:r>
              <a:rPr lang="zh-CN" altLang="en-US" dirty="0"/>
              <a:t>滚动文件。</a:t>
            </a:r>
            <a:endParaRPr lang="zh-CN" altLang="en-US" dirty="0"/>
          </a:p>
          <a:p>
            <a:r>
              <a:rPr lang="zh-CN" altLang="en-US" dirty="0"/>
              <a:t>异步是这个项目的核心机制，：流式输出用</a:t>
            </a:r>
            <a:r>
              <a:rPr lang="en-US" altLang="zh-CN" dirty="0"/>
              <a:t> IAsyncEnumerable</a:t>
            </a:r>
            <a:r>
              <a:rPr lang="zh-CN" altLang="en-US" dirty="0"/>
              <a:t>；只读工具并发用</a:t>
            </a:r>
            <a:r>
              <a:rPr lang="en-US" altLang="zh-CN" dirty="0"/>
              <a:t> Task.WhenAll</a:t>
            </a:r>
            <a:r>
              <a:rPr lang="zh-CN" altLang="en-US" dirty="0"/>
              <a:t>；</a:t>
            </a:r>
            <a:r>
              <a:rPr lang="en-US" altLang="zh-CN" dirty="0"/>
              <a:t>shell </a:t>
            </a:r>
            <a:r>
              <a:rPr lang="zh-CN" altLang="en-US" dirty="0"/>
              <a:t>命令串行用</a:t>
            </a:r>
            <a:r>
              <a:rPr lang="en-US" altLang="zh-CN" dirty="0"/>
              <a:t> SemaphoreSlim</a:t>
            </a:r>
            <a:r>
              <a:rPr lang="zh-CN" altLang="en-US" dirty="0"/>
              <a:t>；人在回路的等待用</a:t>
            </a:r>
            <a:r>
              <a:rPr lang="en-US" altLang="zh-CN" dirty="0"/>
              <a:t> TaskCompletionSource</a:t>
            </a:r>
            <a:r>
              <a:rPr lang="zh-CN" altLang="en-US" dirty="0"/>
              <a:t>；中断用</a:t>
            </a:r>
            <a:r>
              <a:rPr lang="en-US" altLang="zh-CN" dirty="0"/>
              <a:t> CancellationToken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这些操作全是</a:t>
            </a:r>
            <a:r>
              <a:rPr lang="en-US" altLang="zh-CN" dirty="0"/>
              <a:t> I/O </a:t>
            </a:r>
            <a:r>
              <a:rPr lang="zh-CN" altLang="en-US" dirty="0"/>
              <a:t>等待型的，</a:t>
            </a:r>
            <a:r>
              <a:rPr lang="en-US" altLang="zh-CN" dirty="0"/>
              <a:t>await </a:t>
            </a:r>
            <a:r>
              <a:rPr lang="zh-CN" altLang="en-US" dirty="0"/>
              <a:t>在等待时把线程还给线程池，界面不卡、还能随时响应中断。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这页是我做的几个关键设计决策的汇总，前面基本都</a:t>
            </a:r>
            <a:r>
              <a:rPr lang="zh-CN" altLang="en-US" dirty="0"/>
              <a:t>讲过。</a:t>
            </a:r>
            <a:endParaRPr lang="zh-CN" altLang="en-US" dirty="0"/>
          </a:p>
          <a:p>
            <a:r>
              <a:rPr lang="zh-CN" altLang="en-US" dirty="0"/>
              <a:t>循环返回异步事件流，是为了流式和可观测；</a:t>
            </a:r>
            <a:endParaRPr lang="zh-CN" altLang="en-US" dirty="0"/>
          </a:p>
          <a:p>
            <a:r>
              <a:rPr lang="zh-CN" altLang="en-US" dirty="0"/>
              <a:t>事件驱动解耦，便于前端替换</a:t>
            </a:r>
            <a:r>
              <a:rPr lang="zh-CN" altLang="en-US" dirty="0"/>
              <a:t>和单测；</a:t>
            </a:r>
            <a:endParaRPr lang="zh-CN" altLang="en-US" dirty="0"/>
          </a:p>
          <a:p>
            <a:r>
              <a:rPr lang="zh-CN" altLang="en-US" dirty="0"/>
              <a:t>读并发写串行，是为了既快又安全；</a:t>
            </a:r>
            <a:endParaRPr lang="zh-CN" altLang="en-US" dirty="0"/>
          </a:p>
          <a:p>
            <a:r>
              <a:rPr lang="en-US" altLang="zh-CN" dirty="0"/>
              <a:t>HITL </a:t>
            </a:r>
            <a:r>
              <a:rPr lang="zh-CN" altLang="en-US" dirty="0"/>
              <a:t>用</a:t>
            </a:r>
            <a:r>
              <a:rPr lang="en-US" altLang="zh-CN" dirty="0"/>
              <a:t> TaskCompletionSource</a:t>
            </a:r>
            <a:r>
              <a:rPr lang="zh-CN" altLang="en-US" dirty="0"/>
              <a:t>，是为了不阻塞线程；</a:t>
            </a:r>
            <a:endParaRPr lang="zh-CN" altLang="en-US" dirty="0"/>
          </a:p>
          <a:p>
            <a:r>
              <a:rPr lang="zh-CN" altLang="en-US" dirty="0"/>
              <a:t>多</a:t>
            </a:r>
            <a:r>
              <a:rPr lang="en-US" altLang="zh-CN" dirty="0"/>
              <a:t> Agent </a:t>
            </a:r>
            <a:r>
              <a:rPr lang="zh-CN" altLang="en-US" dirty="0"/>
              <a:t>用</a:t>
            </a:r>
            <a:r>
              <a:rPr lang="en-US" altLang="zh-CN" dirty="0"/>
              <a:t> worktree</a:t>
            </a:r>
            <a:r>
              <a:rPr lang="zh-CN" altLang="en-US" dirty="0"/>
              <a:t>，是为了物理隔离再合并；</a:t>
            </a:r>
            <a:endParaRPr lang="zh-CN" altLang="en-US" dirty="0"/>
          </a:p>
          <a:p>
            <a:r>
              <a:rPr lang="en-US" altLang="zh-CN" dirty="0"/>
              <a:t>Provider </a:t>
            </a:r>
            <a:r>
              <a:rPr lang="zh-CN" altLang="en-US" dirty="0"/>
              <a:t>最小配置加推导表，是为了配置极简、加后端不用改代码。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VestiCode </a:t>
            </a:r>
            <a:r>
              <a:rPr lang="zh-CN" altLang="en-US" dirty="0"/>
              <a:t>是一个完整、真实可用、而且每一行都能解释的</a:t>
            </a:r>
            <a:r>
              <a:rPr lang="en-US" altLang="zh-CN" dirty="0"/>
              <a:t> .NET </a:t>
            </a:r>
            <a:r>
              <a:rPr lang="zh-CN" altLang="en-US" dirty="0"/>
              <a:t>自主编码</a:t>
            </a:r>
            <a:r>
              <a:rPr lang="en-US" altLang="zh-CN" dirty="0"/>
              <a:t> Agent</a:t>
            </a:r>
            <a:r>
              <a:rPr lang="zh-CN" altLang="en-US" dirty="0"/>
              <a:t>。课程要求的必备要素我全部覆盖了，加分项里完成了多</a:t>
            </a:r>
            <a:r>
              <a:rPr lang="en-US" altLang="zh-CN" dirty="0"/>
              <a:t> Agent </a:t>
            </a:r>
            <a:r>
              <a:rPr lang="zh-CN" altLang="en-US" dirty="0"/>
              <a:t>协作、单元测试、流式输出和可观测性。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286000"/>
            <a:ext cx="76200" cy="25400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1092200" y="2286000"/>
            <a:ext cx="8382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VestiCode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092200" y="3429000"/>
            <a:ext cx="838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 .NET 10 的终端自主编码 AI 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2200" y="4191000"/>
            <a:ext cx="2540000" cy="25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6" name="Text 4"/>
          <p:cNvSpPr/>
          <p:nvPr/>
        </p:nvSpPr>
        <p:spPr>
          <a:xfrm>
            <a:off x="1092200" y="4445000"/>
            <a:ext cx="838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课程：</a:t>
            </a:r>
            <a:r>
              <a:rPr lang="en-US" altLang="zh-CN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.NET</a:t>
            </a:r>
            <a:r>
              <a:rPr lang="zh-CN" alt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体系结构与设计开发</a:t>
            </a:r>
            <a:endParaRPr lang="zh-CN" altLang="en-US" sz="1600" dirty="0">
              <a:solidFill>
                <a:srgbClr val="94A3B8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80000"/>
              </a:lnSpc>
              <a:buClrTx/>
              <a:buSzTx/>
              <a:buFontTx/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汇报人：</a:t>
            </a:r>
            <a:r>
              <a:rPr lang="zh-CN" alt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马小龙</a:t>
            </a:r>
            <a:endParaRPr lang="en-US" sz="1600" dirty="0">
              <a:solidFill>
                <a:srgbClr val="94A3B8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日期：2025 年 6 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0" y="1524000"/>
            <a:ext cx="5334000" cy="6096000"/>
          </a:xfrm>
          <a:prstGeom prst="roundRect">
            <a:avLst>
              <a:gd name="adj" fmla="val 6000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541000" y="1905000"/>
            <a:ext cx="4572000" cy="533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ReAct Loop - The Heart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(round = 1; round &lt;= maxRounds; round++) {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Thought + Action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await foreach</a:t>
            </a: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(var item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provider.ChatStreamAsync(..))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{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return</a:t>
            </a: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item;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Observation 回填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history.AppendToolResult(..);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}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2410C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项目定位与核心能力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147320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397000"/>
            <a:ext cx="14224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用自然语言下达编程任务，Agent 自主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「调用工具 → 观察结果 → 继续推理」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直到完成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2692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C2410C"/>
          </a:solidFill>
        </p:spPr>
      </p:sp>
      <p:sp>
        <p:nvSpPr>
          <p:cNvPr id="8" name="Text 6"/>
          <p:cNvSpPr/>
          <p:nvPr/>
        </p:nvSpPr>
        <p:spPr>
          <a:xfrm>
            <a:off x="1498600" y="2667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终端 CLI 形态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3200400"/>
            <a:ext cx="4191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已可作为 </a:t>
            </a: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vesticode</a:t>
            </a: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命令在任意项目目录使用，无需额外配置，即开即用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78500" y="2476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2500" y="2692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5580" y="0"/>
                </a:moveTo>
                <a:cubicBezTo>
                  <a:pt x="195580" y="-12293"/>
                  <a:pt x="187635" y="-22225"/>
                  <a:pt x="177800" y="-22225"/>
                </a:cubicBezTo>
                <a:cubicBezTo>
                  <a:pt x="167965" y="-22225"/>
                  <a:pt x="160020" y="-12293"/>
                  <a:pt x="160020" y="0"/>
                </a:cubicBezTo>
                <a:lnTo>
                  <a:pt x="160020" y="44450"/>
                </a:lnTo>
                <a:lnTo>
                  <a:pt x="106680" y="44450"/>
                </a:lnTo>
                <a:cubicBezTo>
                  <a:pt x="77232" y="44450"/>
                  <a:pt x="53340" y="74315"/>
                  <a:pt x="53340" y="111125"/>
                </a:cubicBezTo>
                <a:lnTo>
                  <a:pt x="53340" y="266700"/>
                </a:lnTo>
                <a:cubicBezTo>
                  <a:pt x="53340" y="303510"/>
                  <a:pt x="77232" y="333375"/>
                  <a:pt x="106680" y="333375"/>
                </a:cubicBezTo>
                <a:lnTo>
                  <a:pt x="248920" y="333375"/>
                </a:lnTo>
                <a:cubicBezTo>
                  <a:pt x="278368" y="333375"/>
                  <a:pt x="302260" y="303510"/>
                  <a:pt x="302260" y="266700"/>
                </a:cubicBezTo>
                <a:lnTo>
                  <a:pt x="302260" y="111125"/>
                </a:lnTo>
                <a:cubicBezTo>
                  <a:pt x="302260" y="74315"/>
                  <a:pt x="278368" y="44450"/>
                  <a:pt x="248920" y="44450"/>
                </a:cubicBezTo>
                <a:lnTo>
                  <a:pt x="195580" y="44450"/>
                </a:lnTo>
                <a:lnTo>
                  <a:pt x="195580" y="0"/>
                </a:lnTo>
                <a:close/>
                <a:moveTo>
                  <a:pt x="88900" y="255587"/>
                </a:moveTo>
                <a:cubicBezTo>
                  <a:pt x="88900" y="246350"/>
                  <a:pt x="94845" y="238919"/>
                  <a:pt x="102235" y="238919"/>
                </a:cubicBezTo>
                <a:lnTo>
                  <a:pt x="120015" y="238919"/>
                </a:lnTo>
                <a:cubicBezTo>
                  <a:pt x="127405" y="238919"/>
                  <a:pt x="133350" y="246350"/>
                  <a:pt x="133350" y="255587"/>
                </a:cubicBezTo>
                <a:cubicBezTo>
                  <a:pt x="133350" y="264825"/>
                  <a:pt x="127405" y="272256"/>
                  <a:pt x="120015" y="272256"/>
                </a:cubicBezTo>
                <a:lnTo>
                  <a:pt x="102235" y="272256"/>
                </a:lnTo>
                <a:cubicBezTo>
                  <a:pt x="94845" y="272256"/>
                  <a:pt x="88900" y="264825"/>
                  <a:pt x="88900" y="255587"/>
                </a:cubicBezTo>
                <a:close/>
                <a:moveTo>
                  <a:pt x="155575" y="255587"/>
                </a:moveTo>
                <a:cubicBezTo>
                  <a:pt x="155575" y="246350"/>
                  <a:pt x="161520" y="238919"/>
                  <a:pt x="168910" y="238919"/>
                </a:cubicBezTo>
                <a:lnTo>
                  <a:pt x="186690" y="238919"/>
                </a:lnTo>
                <a:cubicBezTo>
                  <a:pt x="194080" y="238919"/>
                  <a:pt x="200025" y="246350"/>
                  <a:pt x="200025" y="255587"/>
                </a:cubicBezTo>
                <a:cubicBezTo>
                  <a:pt x="200025" y="264825"/>
                  <a:pt x="194080" y="272256"/>
                  <a:pt x="186690" y="272256"/>
                </a:cubicBezTo>
                <a:lnTo>
                  <a:pt x="168910" y="272256"/>
                </a:lnTo>
                <a:cubicBezTo>
                  <a:pt x="161520" y="272256"/>
                  <a:pt x="155575" y="264825"/>
                  <a:pt x="155575" y="255587"/>
                </a:cubicBezTo>
                <a:close/>
                <a:moveTo>
                  <a:pt x="222250" y="255587"/>
                </a:moveTo>
                <a:cubicBezTo>
                  <a:pt x="222250" y="246350"/>
                  <a:pt x="228195" y="238919"/>
                  <a:pt x="235585" y="238919"/>
                </a:cubicBezTo>
                <a:lnTo>
                  <a:pt x="253365" y="238919"/>
                </a:lnTo>
                <a:cubicBezTo>
                  <a:pt x="260755" y="238919"/>
                  <a:pt x="266700" y="246350"/>
                  <a:pt x="266700" y="255587"/>
                </a:cubicBezTo>
                <a:cubicBezTo>
                  <a:pt x="266700" y="264825"/>
                  <a:pt x="260755" y="272256"/>
                  <a:pt x="253365" y="272256"/>
                </a:cubicBezTo>
                <a:lnTo>
                  <a:pt x="235585" y="272256"/>
                </a:lnTo>
                <a:cubicBezTo>
                  <a:pt x="228195" y="272256"/>
                  <a:pt x="222250" y="264825"/>
                  <a:pt x="222250" y="255587"/>
                </a:cubicBezTo>
                <a:close/>
                <a:moveTo>
                  <a:pt x="124460" y="122238"/>
                </a:moveTo>
                <a:cubicBezTo>
                  <a:pt x="139180" y="122238"/>
                  <a:pt x="151130" y="137176"/>
                  <a:pt x="151130" y="155575"/>
                </a:cubicBezTo>
                <a:cubicBezTo>
                  <a:pt x="151130" y="173974"/>
                  <a:pt x="139180" y="188913"/>
                  <a:pt x="124460" y="188913"/>
                </a:cubicBezTo>
                <a:cubicBezTo>
                  <a:pt x="109740" y="188913"/>
                  <a:pt x="97790" y="173974"/>
                  <a:pt x="97790" y="155575"/>
                </a:cubicBezTo>
                <a:cubicBezTo>
                  <a:pt x="97790" y="137176"/>
                  <a:pt x="109740" y="122238"/>
                  <a:pt x="124460" y="122238"/>
                </a:cubicBezTo>
                <a:close/>
                <a:moveTo>
                  <a:pt x="204470" y="155575"/>
                </a:moveTo>
                <a:cubicBezTo>
                  <a:pt x="204470" y="137176"/>
                  <a:pt x="216420" y="122238"/>
                  <a:pt x="231140" y="122238"/>
                </a:cubicBezTo>
                <a:cubicBezTo>
                  <a:pt x="245860" y="122238"/>
                  <a:pt x="257810" y="137176"/>
                  <a:pt x="257810" y="155575"/>
                </a:cubicBezTo>
                <a:cubicBezTo>
                  <a:pt x="257810" y="173974"/>
                  <a:pt x="245860" y="188913"/>
                  <a:pt x="231140" y="188913"/>
                </a:cubicBezTo>
                <a:cubicBezTo>
                  <a:pt x="216420" y="188913"/>
                  <a:pt x="204470" y="173974"/>
                  <a:pt x="204470" y="155575"/>
                </a:cubicBezTo>
                <a:close/>
                <a:moveTo>
                  <a:pt x="35560" y="155575"/>
                </a:moveTo>
                <a:cubicBezTo>
                  <a:pt x="35560" y="143282"/>
                  <a:pt x="27615" y="133350"/>
                  <a:pt x="17780" y="133350"/>
                </a:cubicBezTo>
                <a:cubicBezTo>
                  <a:pt x="7945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7945" y="244475"/>
                  <a:pt x="17780" y="244475"/>
                </a:cubicBezTo>
                <a:cubicBezTo>
                  <a:pt x="27615" y="244475"/>
                  <a:pt x="35560" y="234543"/>
                  <a:pt x="35560" y="222250"/>
                </a:cubicBezTo>
                <a:lnTo>
                  <a:pt x="35560" y="155575"/>
                </a:lnTo>
                <a:close/>
                <a:moveTo>
                  <a:pt x="337820" y="133350"/>
                </a:moveTo>
                <a:cubicBezTo>
                  <a:pt x="327985" y="133350"/>
                  <a:pt x="320040" y="143282"/>
                  <a:pt x="320040" y="155575"/>
                </a:cubicBezTo>
                <a:lnTo>
                  <a:pt x="320040" y="222250"/>
                </a:lnTo>
                <a:cubicBezTo>
                  <a:pt x="320040" y="234543"/>
                  <a:pt x="327985" y="244475"/>
                  <a:pt x="337820" y="244475"/>
                </a:cubicBezTo>
                <a:cubicBezTo>
                  <a:pt x="347655" y="244475"/>
                  <a:pt x="355600" y="234543"/>
                  <a:pt x="355600" y="222250"/>
                </a:cubicBezTo>
                <a:lnTo>
                  <a:pt x="355600" y="155575"/>
                </a:lnTo>
                <a:cubicBezTo>
                  <a:pt x="355600" y="143282"/>
                  <a:pt x="347655" y="133350"/>
                  <a:pt x="337820" y="133350"/>
                </a:cubicBezTo>
                <a:close/>
              </a:path>
            </a:pathLst>
          </a:custGeom>
          <a:solidFill>
            <a:srgbClr val="C2410C"/>
          </a:solidFill>
        </p:spPr>
      </p:sp>
      <p:sp>
        <p:nvSpPr>
          <p:cNvPr id="12" name="Text 10"/>
          <p:cNvSpPr/>
          <p:nvPr/>
        </p:nvSpPr>
        <p:spPr>
          <a:xfrm>
            <a:off x="6515100" y="2667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自主编码 Agent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2500" y="3200400"/>
            <a:ext cx="4191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读写文件、执行命令、搜索代码、联网抓取——通用能力，不局限于单一任务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795000" y="2476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9000" y="2692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1084" y="146199"/>
                </a:moveTo>
                <a:cubicBezTo>
                  <a:pt x="237863" y="143907"/>
                  <a:pt x="244975" y="147935"/>
                  <a:pt x="248031" y="155783"/>
                </a:cubicBezTo>
                <a:lnTo>
                  <a:pt x="258366" y="181898"/>
                </a:lnTo>
                <a:cubicBezTo>
                  <a:pt x="264089" y="182870"/>
                  <a:pt x="269700" y="184815"/>
                  <a:pt x="274979" y="187523"/>
                </a:cubicBezTo>
                <a:lnTo>
                  <a:pt x="294426" y="171341"/>
                </a:lnTo>
                <a:cubicBezTo>
                  <a:pt x="300260" y="166479"/>
                  <a:pt x="307983" y="167451"/>
                  <a:pt x="312928" y="173633"/>
                </a:cubicBezTo>
                <a:lnTo>
                  <a:pt x="323596" y="186968"/>
                </a:lnTo>
                <a:cubicBezTo>
                  <a:pt x="328541" y="193149"/>
                  <a:pt x="329319" y="202873"/>
                  <a:pt x="325430" y="210096"/>
                </a:cubicBezTo>
                <a:lnTo>
                  <a:pt x="312483" y="234335"/>
                </a:lnTo>
                <a:cubicBezTo>
                  <a:pt x="313539" y="237599"/>
                  <a:pt x="314484" y="241002"/>
                  <a:pt x="315262" y="244544"/>
                </a:cubicBezTo>
                <a:cubicBezTo>
                  <a:pt x="316039" y="248087"/>
                  <a:pt x="316540" y="251559"/>
                  <a:pt x="316928" y="255101"/>
                </a:cubicBezTo>
                <a:lnTo>
                  <a:pt x="337876" y="268020"/>
                </a:lnTo>
                <a:cubicBezTo>
                  <a:pt x="344154" y="271909"/>
                  <a:pt x="347377" y="280799"/>
                  <a:pt x="345543" y="289203"/>
                </a:cubicBezTo>
                <a:lnTo>
                  <a:pt x="341654" y="307400"/>
                </a:lnTo>
                <a:cubicBezTo>
                  <a:pt x="339820" y="315803"/>
                  <a:pt x="333542" y="321499"/>
                  <a:pt x="326541" y="320943"/>
                </a:cubicBezTo>
                <a:lnTo>
                  <a:pt x="303205" y="319068"/>
                </a:lnTo>
                <a:cubicBezTo>
                  <a:pt x="299704" y="324693"/>
                  <a:pt x="295648" y="329902"/>
                  <a:pt x="291036" y="334347"/>
                </a:cubicBezTo>
                <a:lnTo>
                  <a:pt x="292537" y="363448"/>
                </a:lnTo>
                <a:cubicBezTo>
                  <a:pt x="292981" y="372199"/>
                  <a:pt x="288425" y="380117"/>
                  <a:pt x="281702" y="382339"/>
                </a:cubicBezTo>
                <a:lnTo>
                  <a:pt x="267145" y="387201"/>
                </a:lnTo>
                <a:cubicBezTo>
                  <a:pt x="260366" y="389493"/>
                  <a:pt x="253309" y="385465"/>
                  <a:pt x="250198" y="377617"/>
                </a:cubicBezTo>
                <a:lnTo>
                  <a:pt x="239863" y="351502"/>
                </a:lnTo>
                <a:cubicBezTo>
                  <a:pt x="234140" y="350530"/>
                  <a:pt x="228529" y="348585"/>
                  <a:pt x="223250" y="345877"/>
                </a:cubicBezTo>
                <a:lnTo>
                  <a:pt x="203803" y="362059"/>
                </a:lnTo>
                <a:cubicBezTo>
                  <a:pt x="197969" y="366921"/>
                  <a:pt x="190246" y="365949"/>
                  <a:pt x="185301" y="359767"/>
                </a:cubicBezTo>
                <a:lnTo>
                  <a:pt x="174633" y="346432"/>
                </a:lnTo>
                <a:cubicBezTo>
                  <a:pt x="169688" y="340251"/>
                  <a:pt x="168910" y="330597"/>
                  <a:pt x="172799" y="323304"/>
                </a:cubicBezTo>
                <a:lnTo>
                  <a:pt x="185745" y="298996"/>
                </a:lnTo>
                <a:cubicBezTo>
                  <a:pt x="184690" y="295731"/>
                  <a:pt x="183745" y="292328"/>
                  <a:pt x="182967" y="288786"/>
                </a:cubicBezTo>
                <a:cubicBezTo>
                  <a:pt x="182189" y="285244"/>
                  <a:pt x="181689" y="281702"/>
                  <a:pt x="181300" y="278229"/>
                </a:cubicBezTo>
                <a:lnTo>
                  <a:pt x="160353" y="265311"/>
                </a:lnTo>
                <a:cubicBezTo>
                  <a:pt x="154075" y="261422"/>
                  <a:pt x="150908" y="252532"/>
                  <a:pt x="152686" y="244128"/>
                </a:cubicBezTo>
                <a:lnTo>
                  <a:pt x="156575" y="225931"/>
                </a:lnTo>
                <a:cubicBezTo>
                  <a:pt x="158409" y="217527"/>
                  <a:pt x="164687" y="211832"/>
                  <a:pt x="171688" y="212388"/>
                </a:cubicBezTo>
                <a:lnTo>
                  <a:pt x="194969" y="214263"/>
                </a:lnTo>
                <a:cubicBezTo>
                  <a:pt x="198469" y="208637"/>
                  <a:pt x="202525" y="203428"/>
                  <a:pt x="207137" y="198983"/>
                </a:cubicBezTo>
                <a:lnTo>
                  <a:pt x="205637" y="169952"/>
                </a:lnTo>
                <a:cubicBezTo>
                  <a:pt x="205192" y="161201"/>
                  <a:pt x="209748" y="153283"/>
                  <a:pt x="216471" y="151061"/>
                </a:cubicBezTo>
                <a:lnTo>
                  <a:pt x="231029" y="146199"/>
                </a:lnTo>
                <a:close/>
                <a:moveTo>
                  <a:pt x="249142" y="236141"/>
                </a:moveTo>
                <a:cubicBezTo>
                  <a:pt x="235649" y="236160"/>
                  <a:pt x="224707" y="249869"/>
                  <a:pt x="224723" y="266735"/>
                </a:cubicBezTo>
                <a:cubicBezTo>
                  <a:pt x="224738" y="283601"/>
                  <a:pt x="235705" y="297279"/>
                  <a:pt x="249198" y="297259"/>
                </a:cubicBezTo>
                <a:cubicBezTo>
                  <a:pt x="262691" y="297240"/>
                  <a:pt x="273633" y="283531"/>
                  <a:pt x="273618" y="266665"/>
                </a:cubicBezTo>
                <a:cubicBezTo>
                  <a:pt x="273602" y="249799"/>
                  <a:pt x="262635" y="236121"/>
                  <a:pt x="249142" y="236141"/>
                </a:cubicBezTo>
                <a:close/>
                <a:moveTo>
                  <a:pt x="124960" y="-31601"/>
                </a:moveTo>
                <a:lnTo>
                  <a:pt x="139517" y="-26739"/>
                </a:lnTo>
                <a:cubicBezTo>
                  <a:pt x="146241" y="-24448"/>
                  <a:pt x="150797" y="-16530"/>
                  <a:pt x="150352" y="-7848"/>
                </a:cubicBezTo>
                <a:lnTo>
                  <a:pt x="148852" y="21183"/>
                </a:lnTo>
                <a:cubicBezTo>
                  <a:pt x="153464" y="25628"/>
                  <a:pt x="157520" y="30768"/>
                  <a:pt x="161020" y="36463"/>
                </a:cubicBezTo>
                <a:lnTo>
                  <a:pt x="184356" y="34588"/>
                </a:lnTo>
                <a:cubicBezTo>
                  <a:pt x="191302" y="34032"/>
                  <a:pt x="197636" y="39727"/>
                  <a:pt x="199469" y="48131"/>
                </a:cubicBezTo>
                <a:lnTo>
                  <a:pt x="203359" y="66328"/>
                </a:lnTo>
                <a:cubicBezTo>
                  <a:pt x="205137" y="74732"/>
                  <a:pt x="201970" y="83622"/>
                  <a:pt x="195691" y="87511"/>
                </a:cubicBezTo>
                <a:lnTo>
                  <a:pt x="174744" y="100429"/>
                </a:lnTo>
                <a:cubicBezTo>
                  <a:pt x="174355" y="103971"/>
                  <a:pt x="173800" y="107513"/>
                  <a:pt x="173077" y="110986"/>
                </a:cubicBezTo>
                <a:cubicBezTo>
                  <a:pt x="172355" y="114459"/>
                  <a:pt x="171355" y="117931"/>
                  <a:pt x="170299" y="121196"/>
                </a:cubicBezTo>
                <a:lnTo>
                  <a:pt x="183245" y="145504"/>
                </a:lnTo>
                <a:cubicBezTo>
                  <a:pt x="187135" y="152797"/>
                  <a:pt x="186357" y="162451"/>
                  <a:pt x="181412" y="168632"/>
                </a:cubicBezTo>
                <a:lnTo>
                  <a:pt x="170744" y="181967"/>
                </a:lnTo>
                <a:cubicBezTo>
                  <a:pt x="165799" y="188149"/>
                  <a:pt x="158075" y="189121"/>
                  <a:pt x="152241" y="184259"/>
                </a:cubicBezTo>
                <a:lnTo>
                  <a:pt x="132794" y="168077"/>
                </a:lnTo>
                <a:cubicBezTo>
                  <a:pt x="127516" y="170785"/>
                  <a:pt x="121904" y="172730"/>
                  <a:pt x="116181" y="173702"/>
                </a:cubicBezTo>
                <a:lnTo>
                  <a:pt x="105847" y="199817"/>
                </a:lnTo>
                <a:cubicBezTo>
                  <a:pt x="102735" y="207665"/>
                  <a:pt x="95623" y="211624"/>
                  <a:pt x="88900" y="209401"/>
                </a:cubicBezTo>
                <a:lnTo>
                  <a:pt x="74343" y="204539"/>
                </a:lnTo>
                <a:cubicBezTo>
                  <a:pt x="67564" y="202248"/>
                  <a:pt x="63063" y="194330"/>
                  <a:pt x="63508" y="185648"/>
                </a:cubicBezTo>
                <a:lnTo>
                  <a:pt x="65008" y="156547"/>
                </a:lnTo>
                <a:cubicBezTo>
                  <a:pt x="60396" y="152102"/>
                  <a:pt x="56340" y="146963"/>
                  <a:pt x="52840" y="141268"/>
                </a:cubicBezTo>
                <a:lnTo>
                  <a:pt x="29504" y="143143"/>
                </a:lnTo>
                <a:cubicBezTo>
                  <a:pt x="22558" y="143699"/>
                  <a:pt x="16224" y="138003"/>
                  <a:pt x="14391" y="129600"/>
                </a:cubicBezTo>
                <a:lnTo>
                  <a:pt x="10501" y="111403"/>
                </a:lnTo>
                <a:cubicBezTo>
                  <a:pt x="8723" y="102999"/>
                  <a:pt x="11890" y="94109"/>
                  <a:pt x="18169" y="90220"/>
                </a:cubicBezTo>
                <a:lnTo>
                  <a:pt x="39116" y="77301"/>
                </a:lnTo>
                <a:cubicBezTo>
                  <a:pt x="39505" y="73759"/>
                  <a:pt x="40061" y="70287"/>
                  <a:pt x="40783" y="66744"/>
                </a:cubicBezTo>
                <a:cubicBezTo>
                  <a:pt x="41561" y="63202"/>
                  <a:pt x="42450" y="59799"/>
                  <a:pt x="43561" y="56535"/>
                </a:cubicBezTo>
                <a:lnTo>
                  <a:pt x="30615" y="32296"/>
                </a:lnTo>
                <a:cubicBezTo>
                  <a:pt x="26726" y="25003"/>
                  <a:pt x="27503" y="15349"/>
                  <a:pt x="32448" y="9168"/>
                </a:cubicBezTo>
                <a:lnTo>
                  <a:pt x="43116" y="-4167"/>
                </a:lnTo>
                <a:cubicBezTo>
                  <a:pt x="48062" y="-10349"/>
                  <a:pt x="55785" y="-11321"/>
                  <a:pt x="61619" y="-6459"/>
                </a:cubicBezTo>
                <a:lnTo>
                  <a:pt x="81066" y="9723"/>
                </a:lnTo>
                <a:cubicBezTo>
                  <a:pt x="86344" y="7015"/>
                  <a:pt x="91956" y="5070"/>
                  <a:pt x="97679" y="4098"/>
                </a:cubicBezTo>
                <a:lnTo>
                  <a:pt x="108013" y="-22017"/>
                </a:lnTo>
                <a:cubicBezTo>
                  <a:pt x="111125" y="-29865"/>
                  <a:pt x="118181" y="-33824"/>
                  <a:pt x="124960" y="-31601"/>
                </a:cubicBezTo>
                <a:close/>
                <a:moveTo>
                  <a:pt x="106902" y="58341"/>
                </a:moveTo>
                <a:cubicBezTo>
                  <a:pt x="93409" y="58341"/>
                  <a:pt x="82455" y="72034"/>
                  <a:pt x="82455" y="88900"/>
                </a:cubicBezTo>
                <a:cubicBezTo>
                  <a:pt x="82455" y="105766"/>
                  <a:pt x="93409" y="119459"/>
                  <a:pt x="106902" y="119459"/>
                </a:cubicBezTo>
                <a:cubicBezTo>
                  <a:pt x="120395" y="119459"/>
                  <a:pt x="131350" y="105766"/>
                  <a:pt x="131350" y="88900"/>
                </a:cubicBezTo>
                <a:cubicBezTo>
                  <a:pt x="131350" y="72034"/>
                  <a:pt x="120395" y="58341"/>
                  <a:pt x="106902" y="58341"/>
                </a:cubicBezTo>
                <a:close/>
              </a:path>
            </a:pathLst>
          </a:custGeom>
          <a:solidFill>
            <a:srgbClr val="C2410C"/>
          </a:solidFill>
        </p:spPr>
      </p:sp>
      <p:sp>
        <p:nvSpPr>
          <p:cNvPr id="16" name="Text 14"/>
          <p:cNvSpPr/>
          <p:nvPr/>
        </p:nvSpPr>
        <p:spPr>
          <a:xfrm>
            <a:off x="11531600" y="2667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推理循环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49000" y="3200400"/>
            <a:ext cx="4191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边推理边行动，每步基于上一步的真实结果决策，区别于普通聊天机器人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000" y="48895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1E3A5F"/>
          </a:solidFill>
        </p:spPr>
      </p:sp>
      <p:sp>
        <p:nvSpPr>
          <p:cNvPr id="19" name="Text 17"/>
          <p:cNvSpPr/>
          <p:nvPr/>
        </p:nvSpPr>
        <p:spPr>
          <a:xfrm>
            <a:off x="1016000" y="5016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为什么选择编码 Agent？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435600"/>
            <a:ext cx="14224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编码任务天然是多步的，必须「看到上一步的结果才能决定下一步」——这恰好最能体现 Agent 和普通聊天机器人的区别：普通聊天是一问一答，而 Agent 能自我驱动、连续行动。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6794500"/>
            <a:ext cx="1473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核心关键词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2000" y="7239000"/>
            <a:ext cx="165100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7239000"/>
            <a:ext cx="1651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循环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03500" y="7239000"/>
            <a:ext cx="165100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3500" y="7239000"/>
            <a:ext cx="1651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流式输出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45000" y="7239000"/>
            <a:ext cx="165100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5000" y="7239000"/>
            <a:ext cx="1651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工具调用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86500" y="7239000"/>
            <a:ext cx="127000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6500" y="7239000"/>
            <a:ext cx="127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记忆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47000" y="7239000"/>
            <a:ext cx="165100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7000" y="7239000"/>
            <a:ext cx="1651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安全门控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3" name="Text 31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944600" y="8737600"/>
            <a:ext cx="23114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附录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技术栈与 Clean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2286000" cy="4064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</p:spPr>
      </p:sp>
      <p:sp>
        <p:nvSpPr>
          <p:cNvPr id="5" name="Text 3"/>
          <p:cNvSpPr/>
          <p:nvPr/>
        </p:nvSpPr>
        <p:spPr>
          <a:xfrm>
            <a:off x="762000" y="1371600"/>
            <a:ext cx="228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C# / .NET 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38500" y="1371600"/>
            <a:ext cx="508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Nullable、TreatWarningsAsErrors 全开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20574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解决方案分层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540000"/>
            <a:ext cx="4699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2540000"/>
            <a:ext cx="4699000" cy="508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</p:spPr>
      </p:sp>
      <p:sp>
        <p:nvSpPr>
          <p:cNvPr id="10" name="Text 8"/>
          <p:cNvSpPr/>
          <p:nvPr/>
        </p:nvSpPr>
        <p:spPr>
          <a:xfrm>
            <a:off x="762000" y="2540000"/>
            <a:ext cx="4699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VestiCode.Core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" y="3200400"/>
            <a:ext cx="42926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领域核心（无 UI）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循环、Provider 抽象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工具体系、记忆、安全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MCP、Skill、Hook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 Agent、团队、worktree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78500" y="2540000"/>
            <a:ext cx="4699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8500" y="2540000"/>
            <a:ext cx="4699000" cy="508000"/>
          </a:xfrm>
          <a:prstGeom prst="roundRect">
            <a:avLst>
              <a:gd name="adj" fmla="val 8000"/>
            </a:avLst>
          </a:prstGeom>
          <a:solidFill>
            <a:srgbClr val="334155"/>
          </a:solidFill>
        </p:spPr>
      </p:sp>
      <p:sp>
        <p:nvSpPr>
          <p:cNvPr id="14" name="Text 12"/>
          <p:cNvSpPr/>
          <p:nvPr/>
        </p:nvSpPr>
        <p:spPr>
          <a:xfrm>
            <a:off x="5778500" y="2540000"/>
            <a:ext cx="4699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VestiCode.Cli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81700" y="3200400"/>
            <a:ext cx="42926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宿主与界面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Generic Host + DI 装配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分层配置 + Serilog 日志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控制台 TUI 渲染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消费 Core 的事件流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795000" y="2540000"/>
            <a:ext cx="4699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0" y="2540000"/>
            <a:ext cx="4699000" cy="508000"/>
          </a:xfrm>
          <a:prstGeom prst="roundRect">
            <a:avLst>
              <a:gd name="adj" fmla="val 8000"/>
            </a:avLst>
          </a:prstGeom>
          <a:solidFill>
            <a:srgbClr val="475569"/>
          </a:solidFill>
        </p:spPr>
      </p:sp>
      <p:sp>
        <p:nvSpPr>
          <p:cNvPr id="18" name="Text 16"/>
          <p:cNvSpPr/>
          <p:nvPr/>
        </p:nvSpPr>
        <p:spPr>
          <a:xfrm>
            <a:off x="10795000" y="2540000"/>
            <a:ext cx="4699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VestiCode.UnitTests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98200" y="3200400"/>
            <a:ext cx="42926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测试覆盖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58 个 xUnit 测试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覆盖循环、安全、MCP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Skill、Hook、子 Agent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团队、会话、压缩等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61000" y="38100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0477500" y="3810000"/>
            <a:ext cx="3175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762000" y="55880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与 Cli 只通过 </a:t>
            </a:r>
            <a:r>
              <a:rPr lang="en-US" sz="15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事件流</a:t>
            </a: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通信 —— 核心层产出事件，界面层负责渲染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2000" y="6223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1016000" y="6286500"/>
            <a:ext cx="14224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好处一：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同一套核心逻辑以后可以换 Web 或桌面前端</a:t>
            </a:r>
            <a:endParaRPr lang="en-US" sz="1500" dirty="0">
              <a:solidFill>
                <a:srgbClr val="1E293B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好处二：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核心循环可以被单元测试独立验证，不依赖界面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6" name="Text 24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四大核心组件</a:t>
            </a:r>
            <a:endParaRPr lang="en-US" sz="2800" dirty="0"/>
          </a:p>
        </p:txBody>
      </p:sp>
      <p:pic>
        <p:nvPicPr>
          <p:cNvPr id="4" name="Image 0" descr="https://kimi-img.moonshot.cn/pub/slides/okc/ugieknhq4im3u/mnt/agents/output/vesticode/images/architectur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270000"/>
            <a:ext cx="8890000" cy="4826000"/>
          </a:xfrm>
          <a:prstGeom prst="roundRect">
            <a:avLst>
              <a:gd name="adj" fmla="val 6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9969500" y="1270000"/>
            <a:ext cx="5524500" cy="482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0000" y="1422400"/>
            <a:ext cx="5143500" cy="990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LLM（大脑）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推理与决策 · 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ILlmProvider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160000" y="2514600"/>
            <a:ext cx="5143500" cy="990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Loop（控制循环）★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驱动 ReAct 迭代 · 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RunAsync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160000" y="3606800"/>
            <a:ext cx="5143500" cy="990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Memory（记忆）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维持上下文 · History / 压缩 / 持久化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160000" y="4699000"/>
            <a:ext cx="5143500" cy="990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Tools（工具）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与外界交互 · 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ITool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Registry / Executor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62000" y="65659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1E3A5F"/>
          </a:solidFill>
        </p:spPr>
      </p:sp>
      <p:sp>
        <p:nvSpPr>
          <p:cNvPr id="11" name="Text 8"/>
          <p:cNvSpPr/>
          <p:nvPr/>
        </p:nvSpPr>
        <p:spPr>
          <a:xfrm>
            <a:off x="1016000" y="66294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数据流：</a:t>
            </a: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AgentLoop 向左调用 LLM、向右读写历史、向下经 SecurityGuard 执行工具，并持续向上产出 AgentEvent 供界面实时渲染。核心层从不直接操作终端。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3" name="Text 10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核心原理：ReAct 模式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32000" y="1651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</p:spPr>
      </p:sp>
      <p:sp>
        <p:nvSpPr>
          <p:cNvPr id="5" name="Text 3"/>
          <p:cNvSpPr/>
          <p:nvPr/>
        </p:nvSpPr>
        <p:spPr>
          <a:xfrm>
            <a:off x="2032000" y="1651000"/>
            <a:ext cx="2794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Thought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思考：分析现状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826000" y="20320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5588000" y="1651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C2410C"/>
          </a:solidFill>
        </p:spPr>
      </p:sp>
      <p:sp>
        <p:nvSpPr>
          <p:cNvPr id="8" name="Text 6"/>
          <p:cNvSpPr/>
          <p:nvPr/>
        </p:nvSpPr>
        <p:spPr>
          <a:xfrm>
            <a:off x="5588000" y="1651000"/>
            <a:ext cx="2794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行动：调用工具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20320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9144000" y="1651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</p:spPr>
      </p:sp>
      <p:sp>
        <p:nvSpPr>
          <p:cNvPr id="11" name="Text 9"/>
          <p:cNvSpPr/>
          <p:nvPr/>
        </p:nvSpPr>
        <p:spPr>
          <a:xfrm>
            <a:off x="9144000" y="1651000"/>
            <a:ext cx="2794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Observation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观察：拿到结果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41000" y="2667000"/>
            <a:ext cx="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dash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9144000" y="3365500"/>
            <a:ext cx="2794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↺ 重复，直到完成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3937000"/>
            <a:ext cx="14732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" y="40894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= Reasoning + Acting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572000"/>
            <a:ext cx="14224000" cy="247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边推理边行动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——模型不是一次性给出最终答案，而是在每一轮中先思考当前状态，然后决定调用哪个工具，拿到结果后再思考下一步。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最关键的一点：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每个工具的执行结果（Observation）必须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回填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到对话历史里，模型在下一轮才能「看到」它，才能基于真实结果继续推理。如果不回填，模型就是在凭空猜。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终止条件：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模型不再请求工具（认为任务完成）或达到最大轮次 MaxRounds（安全兜底）。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8" name="Text 16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核心循环：推理流程图</a:t>
            </a:r>
            <a:endParaRPr lang="en-US" sz="2800" dirty="0"/>
          </a:p>
        </p:txBody>
      </p:sp>
      <p:pic>
        <p:nvPicPr>
          <p:cNvPr id="4" name="Image 0" descr="https://kimi-img.moonshot.cn/pub/slides/okc/ugieknhq4im3u/mnt/agents/output/vesticode/images/react_flow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206500"/>
            <a:ext cx="9906000" cy="6223000"/>
          </a:xfrm>
          <a:prstGeom prst="roundRect">
            <a:avLst>
              <a:gd name="adj" fmla="val 4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10985500" y="1206500"/>
            <a:ext cx="4500245" cy="622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39500" y="1397000"/>
            <a:ext cx="40005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流程要点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239500" y="1905000"/>
            <a:ext cx="4246245" cy="533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① 准备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检查取消 → 压缩检查 → 组装消息 → 构造工具定义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② 流式调用 LLM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SSE 逐块产出 TextDelta / ToolCallReady 等事件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③ 终止判断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无工具调用 → Done(NoToolCall) ✅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④ 记账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先写 assistant 的 tool_use（配对约束）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⑤ 分批执行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读类 Task.WhenAll 并发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写类串行 + 三道关卡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⑥ 回填 → 循环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每个结果 AppendToolResult 回填历史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9" name="Text 6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代码解读：签名 · 轮次 · 流式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3853180"/>
          </a:xfrm>
          <a:prstGeom prst="roundRect">
            <a:avLst>
              <a:gd name="adj" fmla="val 4000"/>
            </a:avLst>
          </a:prstGeom>
          <a:solidFill>
            <a:srgbClr val="0F172A"/>
          </a:solidFill>
        </p:spPr>
      </p:sp>
      <p:sp>
        <p:nvSpPr>
          <p:cNvPr id="5" name="Text 3"/>
          <p:cNvSpPr/>
          <p:nvPr/>
        </p:nvSpPr>
        <p:spPr>
          <a:xfrm>
            <a:off x="1016000" y="1371600"/>
            <a:ext cx="14224000" cy="3505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async IAsyncEnumerable&lt;AgentEvent&gt;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RunAsync(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ConversationHistory history,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[</a:t>
            </a:r>
            <a:r>
              <a:rPr lang="en-US" sz="14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EnumeratorCancellation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CancellationToken ct = default)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r>
              <a:rPr lang="en-US" sz="14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(var round = 1; round &lt;= _maxRounds; round++) {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压缩检查 → 组装消息 → 构造工具定义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4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await foreach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(var item </a:t>
            </a:r>
            <a:r>
              <a:rPr lang="en-US" sz="14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_provider.ChatStreamAsync(messages, toolDefs, ct)) {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r>
              <a:rPr lang="en-US" sz="14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TextDelta:     textBuffer.Append(..); </a:t>
            </a:r>
            <a:r>
              <a:rPr lang="en-US" sz="14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return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TextDeltaEvent;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r>
              <a:rPr lang="en-US" sz="14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ToolCallReady: toolCalls.Add(..);     </a:t>
            </a:r>
            <a:r>
              <a:rPr lang="en-US" sz="14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return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ToolCallEvent;</a:t>
            </a:r>
            <a:endParaRPr lang="en-US" sz="1400" dirty="0">
              <a:solidFill>
                <a:srgbClr val="E2E8F0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l">
              <a:lnSpc>
                <a:spcPct val="155000"/>
              </a:lnSpc>
            </a:pPr>
            <a:r>
              <a:rPr lang="en-US" sz="1400" dirty="0"/>
              <a:t>   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...</a:t>
            </a:r>
            <a:endParaRPr lang="en-US" sz="1400" dirty="0">
              <a:solidFill>
                <a:srgbClr val="E2E8F0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400" dirty="0">
              <a:solidFill>
                <a:srgbClr val="E2E8F0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5283200"/>
            <a:ext cx="469900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" y="5410200"/>
            <a:ext cx="42926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IAsyncEnumerable 返回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5200" y="5791200"/>
            <a:ext cx="4292600" cy="149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边推理边 yield 抛出事件，调用方用 await foreach 实时消费。这是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流式输出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和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推理过程可观测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的根基。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78500" y="5283200"/>
            <a:ext cx="469900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1700" y="5410200"/>
            <a:ext cx="42926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EnumeratorCancellation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81700" y="5791200"/>
            <a:ext cx="4292600" cy="149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将外层取消令牌正确绑定到异步迭代器，按 Esc 能中断循环，实现优雅停止。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795000" y="5283200"/>
            <a:ext cx="469900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98200" y="5410200"/>
            <a:ext cx="42926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maxRounds 安全护栏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98200" y="5791200"/>
            <a:ext cx="4292600" cy="149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轮次循环防止模型无限调工具。每轮开头组装消息：系统提示 + 技能 + 历史 + 每轮注入。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6" name="Text 14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代码解读：终止 · 读写分批 · HITL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3022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</p:spPr>
      </p:sp>
      <p:sp>
        <p:nvSpPr>
          <p:cNvPr id="5" name="Text 3"/>
          <p:cNvSpPr/>
          <p:nvPr/>
        </p:nvSpPr>
        <p:spPr>
          <a:xfrm>
            <a:off x="1016000" y="1371600"/>
            <a:ext cx="14224000" cy="276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3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(toolCalls.Count == 0) {               </a:t>
            </a: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没有工具调用 = 完成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history.AddAssistantMessage(textBuffer.ToString());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r>
              <a:rPr lang="en-US" sz="13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return new</a:t>
            </a: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AgentDoneEvent(NoToolCall); </a:t>
            </a:r>
            <a:r>
              <a:rPr lang="en-US" sz="13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break</a:t>
            </a: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history.AddRawMessage(FromToolCalls(toolCalls, ..)); </a:t>
            </a: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先写 tool_use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3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</a:t>
            </a: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(reads, writes) = PartitionByCategory(toolCalls);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读类：门控 → Task.WhenAll 并发；写类：plan-only/门控(HITL)/Hook → 串行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每个结果 AppendToolResult 回填历史（Observation）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}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r>
              <a:rPr lang="en-US" sz="1300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return new</a:t>
            </a: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AgentDoneEvent(MaxRounds);  </a:t>
            </a: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跑满兜底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4724400"/>
            <a:ext cx="4699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9000" y="4851400"/>
            <a:ext cx="42926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终止判断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9000" y="5232400"/>
            <a:ext cx="42926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toolCalls.Count == 0 说明模型认为任务完成。最终回复写入历史，抛 Done(NoToolCall) 结束。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02300" y="4725035"/>
            <a:ext cx="4699000" cy="1752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5500" y="4876800"/>
            <a:ext cx="42926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记账 + 配对约束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05500" y="5257800"/>
            <a:ext cx="4292600" cy="939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必须先写 assistant 的 tool_use，再写 tool 结果。顺序错了 API 会拒绝。这是容易被忽略但必须做的事。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718800" y="4699000"/>
            <a:ext cx="4699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22000" y="4851400"/>
            <a:ext cx="42926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读并发 / 写串行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22000" y="5232400"/>
            <a:ext cx="4292600" cy="1041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只读工具无副作用 → Task.WhenAll 并发提速。写类有副作用 → 串行 + 三道关卡（plan-only / 安全门控 / Hook）。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7048500"/>
            <a:ext cx="14732000" cy="482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</p:spPr>
      </p:sp>
      <p:sp>
        <p:nvSpPr>
          <p:cNvPr id="16" name="Text 14"/>
          <p:cNvSpPr/>
          <p:nvPr/>
        </p:nvSpPr>
        <p:spPr>
          <a:xfrm>
            <a:off x="1016000" y="7048500"/>
            <a:ext cx="14224000" cy="482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HITL 实现细节：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循环里 yield 出一个 HITL 请求，附带 TaskCompletionSource，然后 await 它——「等用户按键」变成不阻塞线程的异步等待。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8" name="Text 16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工具系统（Tool Calling）</a:t>
            </a:r>
            <a:endParaRPr lang="en-US" sz="2800" dirty="0"/>
          </a:p>
        </p:txBody>
      </p:sp>
      <p:pic>
        <p:nvPicPr>
          <p:cNvPr id="4" name="Image 0" descr="https://kimi-img.moonshot.cn/pub/slides/okc/ugieknhq4im3u/mnt/agents/output/vesticode/images/tool_chai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333500"/>
            <a:ext cx="14732000" cy="2032000"/>
          </a:xfrm>
          <a:prstGeom prst="roundRect">
            <a:avLst>
              <a:gd name="adj" fmla="val 4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762000" y="3924300"/>
            <a:ext cx="711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000" y="4076700"/>
            <a:ext cx="6604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设计要点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470400"/>
            <a:ext cx="6604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统一接口 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ITool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ToolRegistry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注册 → 导出 Function Calling 定义给 LLM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ToolExecutor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统一包裹超时 / 异常 / 日志 → 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ToolResult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8 步全链路：LLM 产出 → Registry → SecurityGuard → Hook → Executor → Result → 回填 → Hook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191500" y="3924300"/>
            <a:ext cx="7302500" cy="3556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</p:spPr>
      </p:sp>
      <p:sp>
        <p:nvSpPr>
          <p:cNvPr id="9" name="Text 6"/>
          <p:cNvSpPr/>
          <p:nvPr/>
        </p:nvSpPr>
        <p:spPr>
          <a:xfrm>
            <a:off x="8445500" y="4076700"/>
            <a:ext cx="6794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的双重作用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45500" y="4470400"/>
            <a:ext cx="6794500" cy="292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一个属性同时服务性能和安全——这是我刻意做的统一抽象：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① 决定分批策略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→ Task.WhenAll 并发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→ 串行执行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② 决定安全默认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→ 默认放行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→ 默认询问（HITL）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2" name="Text 9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记忆机制</a:t>
            </a:r>
            <a:endParaRPr lang="en-US" sz="2800" dirty="0"/>
          </a:p>
        </p:txBody>
      </p:sp>
      <p:pic>
        <p:nvPicPr>
          <p:cNvPr id="4" name="Image 0" descr="https://kimi-img.moonshot.cn/pub/slides/okc/ugieknhq4im3u/mnt/agents/output/vesticode/images/compressio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206500"/>
            <a:ext cx="9144000" cy="2794000"/>
          </a:xfrm>
          <a:prstGeom prst="roundRect">
            <a:avLst>
              <a:gd name="adj" fmla="val 4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10223500" y="1270000"/>
            <a:ext cx="52705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四层记忆架构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223500" y="1714500"/>
            <a:ext cx="52705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① 短期记忆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：对话历史（含工具结果回填）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23500" y="2286000"/>
            <a:ext cx="52705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② 持久记忆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：会话落盘 jsonl，支持 --resume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223500" y="2857500"/>
            <a:ext cx="52705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③ 上下文压缩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：两段式（见左图）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223500" y="3429000"/>
            <a:ext cx="52705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④ 长期笔记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：每 5 轮按四类增量提炼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2000" y="4318000"/>
            <a:ext cx="147320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6000" y="44704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两段式上下文压缩（重点打磨）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" y="4889500"/>
            <a:ext cx="1422400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层 1（廉价，无 LLM）：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ToolResultTruncator 截断超大工具结果并落盘留预览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层 2（三档策略）：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70%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：正常，不处理　• </a:t>
            </a: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70%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：仅警告，产出 ContextWarningEvent，不动历史　• </a:t>
            </a: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90%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：调 LLM 生成结构化摘要替换早期消息，保留最近 4 条原文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熔断机制：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摘要连续失败 2 次 → CircuitBreaker 停止自动压缩，/compress 手动复位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4" name="Text 11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安全与人在回路（HITL）</a:t>
            </a:r>
            <a:endParaRPr lang="en-US" sz="2800" dirty="0"/>
          </a:p>
        </p:txBody>
      </p:sp>
      <p:pic>
        <p:nvPicPr>
          <p:cNvPr id="4" name="Image 0" descr="https://kimi-img.moonshot.cn/pub/slides/okc/ugieknhq4im3u/mnt/agents/output/vesticode/images/security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206500"/>
            <a:ext cx="8636000" cy="4826000"/>
          </a:xfrm>
          <a:prstGeom prst="roundRect">
            <a:avLst>
              <a:gd name="adj" fmla="val 4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9715500" y="1206500"/>
            <a:ext cx="5778500" cy="482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69500" y="1358900"/>
            <a:ext cx="5270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纵深三层防御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969500" y="1778000"/>
            <a:ext cx="5270500" cy="406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① 命令黑名单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 -rf /、fork bomb、curl|sh 等灾难命令在任何档位都直接拒绝。复合命令按分隔符逐段检查，防止 ls &amp;&amp; rm 绕过。</a:t>
            </a:r>
            <a:endParaRPr lang="en-US" sz="1400" dirty="0"/>
          </a:p>
          <a:p>
            <a:pPr algn="l">
              <a:lnSpc>
                <a:spcPct val="165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② 路径沙箱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写操作不能越出项目目录（../outside → Deny）</a:t>
            </a:r>
            <a:endParaRPr lang="en-US" sz="1400" dirty="0"/>
          </a:p>
          <a:p>
            <a:pPr algn="l">
              <a:lnSpc>
                <a:spcPct val="165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③ 档位策略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strict：全部 Ask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normal（默认）：读放行 / 写询问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permissive：仅靠①②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2000" y="6350000"/>
            <a:ext cx="14732000" cy="533400"/>
          </a:xfrm>
          <a:prstGeom prst="roundRect">
            <a:avLst>
              <a:gd name="adj" fmla="val 6000"/>
            </a:avLst>
          </a:prstGeom>
          <a:solidFill>
            <a:srgbClr val="1E3A5F"/>
          </a:solidFill>
        </p:spPr>
      </p:sp>
      <p:sp>
        <p:nvSpPr>
          <p:cNvPr id="9" name="Text 6"/>
          <p:cNvSpPr/>
          <p:nvPr/>
        </p:nvSpPr>
        <p:spPr>
          <a:xfrm>
            <a:off x="1016000" y="6375400"/>
            <a:ext cx="14224000" cy="482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HITL 确认选项：</a:t>
            </a: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允许本次　|　S 允许本会话　|　P 永久允许并写入规则文件　|　D 拒绝（原因回灌模型）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1" name="Text 8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 Provider 与流式输出</a:t>
            </a:r>
            <a:endParaRPr lang="en-US" sz="2800" dirty="0"/>
          </a:p>
        </p:txBody>
      </p:sp>
      <p:pic>
        <p:nvPicPr>
          <p:cNvPr id="4" name="Image 0" descr="https://kimi-img.moonshot.cn/pub/slides/okc/ugieknhq4im3u/mnt/agents/output/vesticode/images/provider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206500"/>
            <a:ext cx="14732000" cy="2667000"/>
          </a:xfrm>
          <a:prstGeom prst="roundRect">
            <a:avLst>
              <a:gd name="adj" fmla="val 4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762000" y="4127500"/>
            <a:ext cx="7112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000" y="4279900"/>
            <a:ext cx="6604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设计目标：配置极简、扩展零改码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6604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用户只需配置三样：Name / Model / ApiKey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协议与基址由内置 providers.json 推导表自动决定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要加新后端（Kimi、智谱、Ollama）只需在推导表里加一行映射，不用改代码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191500" y="4127500"/>
            <a:ext cx="7302500" cy="2794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</p:spPr>
      </p:sp>
      <p:sp>
        <p:nvSpPr>
          <p:cNvPr id="9" name="Text 6"/>
          <p:cNvSpPr/>
          <p:nvPr/>
        </p:nvSpPr>
        <p:spPr>
          <a:xfrm>
            <a:off x="8445500" y="4279900"/>
            <a:ext cx="6794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流式实现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45500" y="4699000"/>
            <a:ext cx="67945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所有 Provider 实现同一接口的 ChatStreamAsync 方法，返回 IAsyncEnumerable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内部解析 SSE，逐块产出：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TextDelta（文本）• ThinkingDelta（思考）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ToolCallReady（工具调用）• UsageReport（用量）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2" name="Text 9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 Agent 团队协作（</a:t>
            </a: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Team）</a:t>
            </a:r>
            <a:endParaRPr lang="en-US" sz="2800" dirty="0"/>
          </a:p>
        </p:txBody>
      </p:sp>
      <p:pic>
        <p:nvPicPr>
          <p:cNvPr id="4" name="Image 0" descr="https://kimi-img.moonshot.cn/pub/slides/okc/ugieknhq4im3u/mnt/agents/output/vesticode/images/multi_agent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536700"/>
            <a:ext cx="9906000" cy="4699000"/>
          </a:xfrm>
          <a:prstGeom prst="roundRect">
            <a:avLst>
              <a:gd name="adj" fmla="val 4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10985500" y="1536700"/>
            <a:ext cx="4508500" cy="469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39500" y="1689100"/>
            <a:ext cx="4000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核心思路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239500" y="2108200"/>
            <a:ext cx="4000500" cy="393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按文件边界拆解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 用 LLM 综合目标、角色、文件结构来切分子任务，让不同成员改不同文件，避免冲突。</a:t>
            </a:r>
            <a:endParaRPr lang="en-US" sz="1400" dirty="0"/>
          </a:p>
          <a:p>
            <a:pPr algn="l">
              <a:lnSpc>
                <a:spcPct val="165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 worktree 物理隔离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每个成员在独立 worktree + 独立分支工作，互不干扰。</a:t>
            </a:r>
            <a:endParaRPr lang="en-US" sz="1400" dirty="0"/>
          </a:p>
          <a:p>
            <a:pPr algn="l">
              <a:lnSpc>
                <a:spcPct val="165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裁决合并冲突</a:t>
            </a:r>
            <a:endParaRPr lang="en-US" sz="1400" dirty="0"/>
          </a:p>
          <a:p>
            <a:pPr algn="l">
              <a:lnSpc>
                <a:spcPct val="165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有冲突时调 LLM 逐文件裁决，裁决不了就回滚上报。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9" name="Text 6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其他扩展能力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000" y="1676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1600" y="-22225"/>
                </a:moveTo>
                <a:cubicBezTo>
                  <a:pt x="115649" y="-22225"/>
                  <a:pt x="127000" y="-12293"/>
                  <a:pt x="127000" y="0"/>
                </a:cubicBezTo>
                <a:lnTo>
                  <a:pt x="127000" y="66675"/>
                </a:lnTo>
                <a:lnTo>
                  <a:pt x="228600" y="66675"/>
                </a:lnTo>
                <a:lnTo>
                  <a:pt x="228600" y="0"/>
                </a:lnTo>
                <a:cubicBezTo>
                  <a:pt x="228600" y="-12293"/>
                  <a:pt x="239951" y="-22225"/>
                  <a:pt x="254000" y="-22225"/>
                </a:cubicBezTo>
                <a:cubicBezTo>
                  <a:pt x="268049" y="-22225"/>
                  <a:pt x="279400" y="-12293"/>
                  <a:pt x="279400" y="0"/>
                </a:cubicBezTo>
                <a:lnTo>
                  <a:pt x="279400" y="66675"/>
                </a:lnTo>
                <a:lnTo>
                  <a:pt x="330200" y="66675"/>
                </a:lnTo>
                <a:cubicBezTo>
                  <a:pt x="344249" y="66675"/>
                  <a:pt x="355600" y="76607"/>
                  <a:pt x="355600" y="88900"/>
                </a:cubicBezTo>
                <a:cubicBezTo>
                  <a:pt x="355600" y="101193"/>
                  <a:pt x="344249" y="111125"/>
                  <a:pt x="330200" y="111125"/>
                </a:cubicBezTo>
                <a:lnTo>
                  <a:pt x="330200" y="155575"/>
                </a:lnTo>
                <a:cubicBezTo>
                  <a:pt x="330200" y="221625"/>
                  <a:pt x="275273" y="276493"/>
                  <a:pt x="203200" y="287050"/>
                </a:cubicBezTo>
                <a:lnTo>
                  <a:pt x="203200" y="333375"/>
                </a:lnTo>
                <a:cubicBezTo>
                  <a:pt x="203200" y="345668"/>
                  <a:pt x="191849" y="355600"/>
                  <a:pt x="177800" y="355600"/>
                </a:cubicBezTo>
                <a:cubicBezTo>
                  <a:pt x="163751" y="355600"/>
                  <a:pt x="152400" y="345668"/>
                  <a:pt x="152400" y="333375"/>
                </a:cubicBezTo>
                <a:lnTo>
                  <a:pt x="152400" y="287050"/>
                </a:lnTo>
                <a:cubicBezTo>
                  <a:pt x="80328" y="276493"/>
                  <a:pt x="25400" y="221625"/>
                  <a:pt x="25400" y="155575"/>
                </a:cubicBezTo>
                <a:lnTo>
                  <a:pt x="25400" y="111125"/>
                </a:lnTo>
                <a:cubicBezTo>
                  <a:pt x="11351" y="111125"/>
                  <a:pt x="0" y="101193"/>
                  <a:pt x="0" y="88900"/>
                </a:cubicBezTo>
                <a:cubicBezTo>
                  <a:pt x="0" y="76607"/>
                  <a:pt x="11351" y="66675"/>
                  <a:pt x="25400" y="66675"/>
                </a:cubicBezTo>
                <a:lnTo>
                  <a:pt x="76200" y="66675"/>
                </a:lnTo>
                <a:lnTo>
                  <a:pt x="76200" y="0"/>
                </a:lnTo>
                <a:cubicBezTo>
                  <a:pt x="76200" y="-12293"/>
                  <a:pt x="87551" y="-22225"/>
                  <a:pt x="101600" y="-22225"/>
                </a:cubicBezTo>
                <a:close/>
              </a:path>
            </a:pathLst>
          </a:custGeom>
          <a:solidFill>
            <a:srgbClr val="C2410C"/>
          </a:solidFill>
        </p:spPr>
      </p:sp>
      <p:sp>
        <p:nvSpPr>
          <p:cNvPr id="6" name="Text 4"/>
          <p:cNvSpPr/>
          <p:nvPr/>
        </p:nvSpPr>
        <p:spPr>
          <a:xfrm>
            <a:off x="1498600" y="1651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客户端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2184400"/>
            <a:ext cx="4191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连接外部 MCP server，动态注册工具。命名格式 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{server}__{tool}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，首次调用惰性发现并缓存。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78500" y="14605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2500" y="1676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04800" y="355600"/>
                </a:moveTo>
                <a:lnTo>
                  <a:pt x="76200" y="355600"/>
                </a:lnTo>
                <a:cubicBezTo>
                  <a:pt x="34131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4932"/>
                  <a:pt x="355600" y="33337"/>
                </a:cubicBezTo>
                <a:lnTo>
                  <a:pt x="355600" y="233363"/>
                </a:lnTo>
                <a:cubicBezTo>
                  <a:pt x="355600" y="247878"/>
                  <a:pt x="344964" y="260241"/>
                  <a:pt x="330200" y="264825"/>
                </a:cubicBezTo>
                <a:lnTo>
                  <a:pt x="330200" y="311150"/>
                </a:lnTo>
                <a:cubicBezTo>
                  <a:pt x="344249" y="311150"/>
                  <a:pt x="355600" y="321082"/>
                  <a:pt x="355600" y="333375"/>
                </a:cubicBezTo>
                <a:cubicBezTo>
                  <a:pt x="355600" y="345668"/>
                  <a:pt x="344249" y="355600"/>
                  <a:pt x="330200" y="355600"/>
                </a:cubicBezTo>
                <a:lnTo>
                  <a:pt x="304800" y="355600"/>
                </a:lnTo>
                <a:close/>
                <a:moveTo>
                  <a:pt x="76200" y="266700"/>
                </a:moveTo>
                <a:cubicBezTo>
                  <a:pt x="62151" y="266700"/>
                  <a:pt x="50800" y="276632"/>
                  <a:pt x="50800" y="288925"/>
                </a:cubicBezTo>
                <a:cubicBezTo>
                  <a:pt x="50800" y="301218"/>
                  <a:pt x="62151" y="311150"/>
                  <a:pt x="76200" y="311150"/>
                </a:cubicBezTo>
                <a:lnTo>
                  <a:pt x="279400" y="311150"/>
                </a:lnTo>
                <a:lnTo>
                  <a:pt x="279400" y="266700"/>
                </a:lnTo>
                <a:lnTo>
                  <a:pt x="76200" y="266700"/>
                </a:lnTo>
                <a:close/>
                <a:moveTo>
                  <a:pt x="101600" y="105569"/>
                </a:moveTo>
                <a:cubicBezTo>
                  <a:pt x="101600" y="114806"/>
                  <a:pt x="110093" y="122238"/>
                  <a:pt x="120650" y="122238"/>
                </a:cubicBezTo>
                <a:lnTo>
                  <a:pt x="260350" y="122238"/>
                </a:lnTo>
                <a:cubicBezTo>
                  <a:pt x="270907" y="122238"/>
                  <a:pt x="279400" y="114806"/>
                  <a:pt x="279400" y="105569"/>
                </a:cubicBezTo>
                <a:cubicBezTo>
                  <a:pt x="279400" y="96331"/>
                  <a:pt x="270907" y="88900"/>
                  <a:pt x="260350" y="88900"/>
                </a:cubicBezTo>
                <a:lnTo>
                  <a:pt x="120650" y="88900"/>
                </a:lnTo>
                <a:cubicBezTo>
                  <a:pt x="110093" y="88900"/>
                  <a:pt x="101600" y="96331"/>
                  <a:pt x="101600" y="105569"/>
                </a:cubicBezTo>
                <a:close/>
                <a:moveTo>
                  <a:pt x="120650" y="155575"/>
                </a:moveTo>
                <a:cubicBezTo>
                  <a:pt x="110093" y="155575"/>
                  <a:pt x="101600" y="163006"/>
                  <a:pt x="101600" y="172244"/>
                </a:cubicBezTo>
                <a:cubicBezTo>
                  <a:pt x="101600" y="181481"/>
                  <a:pt x="110093" y="188913"/>
                  <a:pt x="120650" y="188913"/>
                </a:cubicBezTo>
                <a:lnTo>
                  <a:pt x="260350" y="188913"/>
                </a:lnTo>
                <a:cubicBezTo>
                  <a:pt x="270907" y="188913"/>
                  <a:pt x="279400" y="181481"/>
                  <a:pt x="279400" y="172244"/>
                </a:cubicBezTo>
                <a:cubicBezTo>
                  <a:pt x="279400" y="163006"/>
                  <a:pt x="270907" y="155575"/>
                  <a:pt x="260350" y="155575"/>
                </a:cubicBezTo>
                <a:lnTo>
                  <a:pt x="120650" y="155575"/>
                </a:lnTo>
                <a:close/>
              </a:path>
            </a:pathLst>
          </a:custGeom>
          <a:solidFill>
            <a:srgbClr val="C2410C"/>
          </a:solidFill>
        </p:spPr>
      </p:sp>
      <p:sp>
        <p:nvSpPr>
          <p:cNvPr id="10" name="Text 8"/>
          <p:cNvSpPr/>
          <p:nvPr/>
        </p:nvSpPr>
        <p:spPr>
          <a:xfrm>
            <a:off x="6515100" y="1651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 系统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32500" y="2184400"/>
            <a:ext cx="4191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YAML + Markdown SOP，两阶段激活（描述注入 → SOP 钉入），可声明工具白名单约束 Agent 可见工具。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95000" y="14605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49000" y="1676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8983" y="66675"/>
                </a:moveTo>
                <a:cubicBezTo>
                  <a:pt x="248735" y="66675"/>
                  <a:pt x="238795" y="69800"/>
                  <a:pt x="230090" y="75496"/>
                </a:cubicBezTo>
                <a:cubicBezTo>
                  <a:pt x="220336" y="64383"/>
                  <a:pt x="208977" y="55076"/>
                  <a:pt x="196444" y="48062"/>
                </a:cubicBezTo>
                <a:cubicBezTo>
                  <a:pt x="213854" y="31393"/>
                  <a:pt x="236017" y="22225"/>
                  <a:pt x="258983" y="22225"/>
                </a:cubicBezTo>
                <a:cubicBezTo>
                  <a:pt x="312323" y="22225"/>
                  <a:pt x="355600" y="70842"/>
                  <a:pt x="355600" y="130919"/>
                </a:cubicBezTo>
                <a:cubicBezTo>
                  <a:pt x="355600" y="159742"/>
                  <a:pt x="345414" y="187385"/>
                  <a:pt x="327325" y="207734"/>
                </a:cubicBezTo>
                <a:lnTo>
                  <a:pt x="283430" y="257115"/>
                </a:lnTo>
                <a:cubicBezTo>
                  <a:pt x="265342" y="277465"/>
                  <a:pt x="240771" y="288925"/>
                  <a:pt x="215150" y="288925"/>
                </a:cubicBezTo>
                <a:cubicBezTo>
                  <a:pt x="161810" y="288925"/>
                  <a:pt x="118533" y="240308"/>
                  <a:pt x="118533" y="180231"/>
                </a:cubicBezTo>
                <a:cubicBezTo>
                  <a:pt x="118533" y="179189"/>
                  <a:pt x="118533" y="178147"/>
                  <a:pt x="118595" y="177105"/>
                </a:cubicBezTo>
                <a:cubicBezTo>
                  <a:pt x="118904" y="164812"/>
                  <a:pt x="127979" y="155158"/>
                  <a:pt x="138906" y="155506"/>
                </a:cubicBezTo>
                <a:cubicBezTo>
                  <a:pt x="149834" y="155853"/>
                  <a:pt x="158415" y="166062"/>
                  <a:pt x="158106" y="178356"/>
                </a:cubicBezTo>
                <a:cubicBezTo>
                  <a:pt x="158106" y="178981"/>
                  <a:pt x="158106" y="179606"/>
                  <a:pt x="158106" y="180161"/>
                </a:cubicBezTo>
                <a:cubicBezTo>
                  <a:pt x="158106" y="215652"/>
                  <a:pt x="183665" y="244406"/>
                  <a:pt x="215212" y="244406"/>
                </a:cubicBezTo>
                <a:cubicBezTo>
                  <a:pt x="230337" y="244406"/>
                  <a:pt x="244845" y="237669"/>
                  <a:pt x="255588" y="225584"/>
                </a:cubicBezTo>
                <a:lnTo>
                  <a:pt x="299482" y="176203"/>
                </a:lnTo>
                <a:cubicBezTo>
                  <a:pt x="310162" y="164187"/>
                  <a:pt x="316212" y="147796"/>
                  <a:pt x="316212" y="130780"/>
                </a:cubicBezTo>
                <a:cubicBezTo>
                  <a:pt x="316212" y="95290"/>
                  <a:pt x="290654" y="66536"/>
                  <a:pt x="259106" y="66536"/>
                </a:cubicBezTo>
                <a:close/>
                <a:moveTo>
                  <a:pt x="169898" y="120362"/>
                </a:moveTo>
                <a:cubicBezTo>
                  <a:pt x="168725" y="119807"/>
                  <a:pt x="167552" y="119043"/>
                  <a:pt x="166502" y="118209"/>
                </a:cubicBezTo>
                <a:cubicBezTo>
                  <a:pt x="158724" y="113695"/>
                  <a:pt x="149834" y="111125"/>
                  <a:pt x="140511" y="111125"/>
                </a:cubicBezTo>
                <a:cubicBezTo>
                  <a:pt x="125386" y="111125"/>
                  <a:pt x="110878" y="117862"/>
                  <a:pt x="100136" y="129947"/>
                </a:cubicBezTo>
                <a:lnTo>
                  <a:pt x="56242" y="179328"/>
                </a:lnTo>
                <a:cubicBezTo>
                  <a:pt x="45561" y="191343"/>
                  <a:pt x="39511" y="207734"/>
                  <a:pt x="39511" y="224750"/>
                </a:cubicBezTo>
                <a:cubicBezTo>
                  <a:pt x="39511" y="260241"/>
                  <a:pt x="65070" y="288994"/>
                  <a:pt x="96617" y="288994"/>
                </a:cubicBezTo>
                <a:cubicBezTo>
                  <a:pt x="106803" y="288994"/>
                  <a:pt x="116743" y="285939"/>
                  <a:pt x="125448" y="280243"/>
                </a:cubicBezTo>
                <a:cubicBezTo>
                  <a:pt x="135202" y="291356"/>
                  <a:pt x="146562" y="300663"/>
                  <a:pt x="159156" y="307677"/>
                </a:cubicBezTo>
                <a:cubicBezTo>
                  <a:pt x="141746" y="324277"/>
                  <a:pt x="119645" y="333514"/>
                  <a:pt x="96617" y="333514"/>
                </a:cubicBezTo>
                <a:cubicBezTo>
                  <a:pt x="43277" y="333514"/>
                  <a:pt x="0" y="284897"/>
                  <a:pt x="0" y="224820"/>
                </a:cubicBezTo>
                <a:cubicBezTo>
                  <a:pt x="0" y="195997"/>
                  <a:pt x="10186" y="168354"/>
                  <a:pt x="28275" y="148005"/>
                </a:cubicBezTo>
                <a:lnTo>
                  <a:pt x="72170" y="98623"/>
                </a:lnTo>
                <a:cubicBezTo>
                  <a:pt x="90258" y="78274"/>
                  <a:pt x="114829" y="66814"/>
                  <a:pt x="140450" y="66814"/>
                </a:cubicBezTo>
                <a:cubicBezTo>
                  <a:pt x="193913" y="66814"/>
                  <a:pt x="237067" y="115848"/>
                  <a:pt x="237067" y="175786"/>
                </a:cubicBezTo>
                <a:cubicBezTo>
                  <a:pt x="237067" y="176689"/>
                  <a:pt x="237067" y="177592"/>
                  <a:pt x="237067" y="178495"/>
                </a:cubicBezTo>
                <a:cubicBezTo>
                  <a:pt x="236820" y="190788"/>
                  <a:pt x="227745" y="200442"/>
                  <a:pt x="216817" y="200164"/>
                </a:cubicBezTo>
                <a:cubicBezTo>
                  <a:pt x="205890" y="199886"/>
                  <a:pt x="197309" y="189676"/>
                  <a:pt x="197556" y="177383"/>
                </a:cubicBezTo>
                <a:cubicBezTo>
                  <a:pt x="197556" y="176828"/>
                  <a:pt x="197556" y="176341"/>
                  <a:pt x="197556" y="175786"/>
                </a:cubicBezTo>
                <a:cubicBezTo>
                  <a:pt x="197556" y="152380"/>
                  <a:pt x="186443" y="131822"/>
                  <a:pt x="169898" y="120501"/>
                </a:cubicBezTo>
                <a:close/>
              </a:path>
            </a:pathLst>
          </a:custGeom>
          <a:solidFill>
            <a:srgbClr val="C2410C"/>
          </a:solidFill>
        </p:spPr>
      </p:sp>
      <p:sp>
        <p:nvSpPr>
          <p:cNvPr id="14" name="Text 12"/>
          <p:cNvSpPr/>
          <p:nvPr/>
        </p:nvSpPr>
        <p:spPr>
          <a:xfrm>
            <a:off x="11531600" y="16510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Hook 钩子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049000" y="2184400"/>
            <a:ext cx="4191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生命周期钩子（轮次、工具 pre/post），可拦截或记录。YAML 配置，加载期校验。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4826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000" y="5041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233363"/>
                </a:moveTo>
                <a:cubicBezTo>
                  <a:pt x="237014" y="233363"/>
                  <a:pt x="287655" y="201136"/>
                  <a:pt x="307975" y="155575"/>
                </a:cubicBezTo>
                <a:lnTo>
                  <a:pt x="311150" y="155575"/>
                </a:lnTo>
                <a:cubicBezTo>
                  <a:pt x="321707" y="155575"/>
                  <a:pt x="330200" y="148144"/>
                  <a:pt x="330200" y="138906"/>
                </a:cubicBezTo>
                <a:lnTo>
                  <a:pt x="330200" y="83344"/>
                </a:lnTo>
                <a:cubicBezTo>
                  <a:pt x="330200" y="74106"/>
                  <a:pt x="321707" y="66675"/>
                  <a:pt x="311150" y="66675"/>
                </a:cubicBezTo>
                <a:lnTo>
                  <a:pt x="307975" y="66675"/>
                </a:lnTo>
                <a:cubicBezTo>
                  <a:pt x="287655" y="21114"/>
                  <a:pt x="237014" y="-11112"/>
                  <a:pt x="177800" y="-11112"/>
                </a:cubicBezTo>
                <a:cubicBezTo>
                  <a:pt x="118586" y="-11112"/>
                  <a:pt x="67945" y="21114"/>
                  <a:pt x="47625" y="66675"/>
                </a:cubicBezTo>
                <a:lnTo>
                  <a:pt x="44450" y="66675"/>
                </a:lnTo>
                <a:cubicBezTo>
                  <a:pt x="33893" y="66675"/>
                  <a:pt x="25400" y="74106"/>
                  <a:pt x="25400" y="83344"/>
                </a:cubicBezTo>
                <a:lnTo>
                  <a:pt x="25400" y="138906"/>
                </a:lnTo>
                <a:cubicBezTo>
                  <a:pt x="25400" y="148144"/>
                  <a:pt x="33893" y="155575"/>
                  <a:pt x="44450" y="155575"/>
                </a:cubicBezTo>
                <a:lnTo>
                  <a:pt x="47625" y="155575"/>
                </a:lnTo>
                <a:cubicBezTo>
                  <a:pt x="67945" y="201136"/>
                  <a:pt x="118586" y="233363"/>
                  <a:pt x="177800" y="233363"/>
                </a:cubicBezTo>
                <a:close/>
                <a:moveTo>
                  <a:pt x="165100" y="55563"/>
                </a:moveTo>
                <a:lnTo>
                  <a:pt x="190500" y="55563"/>
                </a:lnTo>
                <a:cubicBezTo>
                  <a:pt x="232569" y="55563"/>
                  <a:pt x="266700" y="85427"/>
                  <a:pt x="266700" y="122238"/>
                </a:cubicBezTo>
                <a:cubicBezTo>
                  <a:pt x="266700" y="159048"/>
                  <a:pt x="232569" y="188913"/>
                  <a:pt x="190500" y="188913"/>
                </a:cubicBezTo>
                <a:lnTo>
                  <a:pt x="165100" y="188913"/>
                </a:lnTo>
                <a:cubicBezTo>
                  <a:pt x="123031" y="188913"/>
                  <a:pt x="88900" y="159048"/>
                  <a:pt x="88900" y="122238"/>
                </a:cubicBezTo>
                <a:cubicBezTo>
                  <a:pt x="88900" y="85427"/>
                  <a:pt x="123031" y="55563"/>
                  <a:pt x="165100" y="55563"/>
                </a:cubicBezTo>
                <a:close/>
                <a:moveTo>
                  <a:pt x="12700" y="336570"/>
                </a:moveTo>
                <a:cubicBezTo>
                  <a:pt x="12700" y="347057"/>
                  <a:pt x="22463" y="355600"/>
                  <a:pt x="34449" y="355600"/>
                </a:cubicBezTo>
                <a:lnTo>
                  <a:pt x="76200" y="355600"/>
                </a:lnTo>
                <a:lnTo>
                  <a:pt x="76200" y="322263"/>
                </a:lnTo>
                <a:cubicBezTo>
                  <a:pt x="76200" y="309969"/>
                  <a:pt x="87551" y="300038"/>
                  <a:pt x="101600" y="300038"/>
                </a:cubicBezTo>
                <a:lnTo>
                  <a:pt x="254000" y="300038"/>
                </a:lnTo>
                <a:cubicBezTo>
                  <a:pt x="268049" y="300038"/>
                  <a:pt x="279400" y="309969"/>
                  <a:pt x="279400" y="322263"/>
                </a:cubicBezTo>
                <a:lnTo>
                  <a:pt x="279400" y="355600"/>
                </a:lnTo>
                <a:lnTo>
                  <a:pt x="321151" y="355600"/>
                </a:lnTo>
                <a:cubicBezTo>
                  <a:pt x="333137" y="355600"/>
                  <a:pt x="342900" y="347057"/>
                  <a:pt x="342900" y="336570"/>
                </a:cubicBezTo>
                <a:cubicBezTo>
                  <a:pt x="342900" y="295037"/>
                  <a:pt x="317579" y="258643"/>
                  <a:pt x="279717" y="238641"/>
                </a:cubicBezTo>
                <a:cubicBezTo>
                  <a:pt x="250825" y="256351"/>
                  <a:pt x="215741" y="266700"/>
                  <a:pt x="177800" y="266700"/>
                </a:cubicBezTo>
                <a:cubicBezTo>
                  <a:pt x="139859" y="266700"/>
                  <a:pt x="104775" y="256351"/>
                  <a:pt x="75882" y="238641"/>
                </a:cubicBezTo>
                <a:cubicBezTo>
                  <a:pt x="38021" y="258643"/>
                  <a:pt x="12700" y="295037"/>
                  <a:pt x="12700" y="336570"/>
                </a:cubicBezTo>
                <a:close/>
                <a:moveTo>
                  <a:pt x="145494" y="98276"/>
                </a:moveTo>
                <a:cubicBezTo>
                  <a:pt x="144780" y="95984"/>
                  <a:pt x="142399" y="94456"/>
                  <a:pt x="139700" y="94456"/>
                </a:cubicBezTo>
                <a:cubicBezTo>
                  <a:pt x="137001" y="94456"/>
                  <a:pt x="134620" y="95984"/>
                  <a:pt x="133906" y="98276"/>
                </a:cubicBezTo>
                <a:lnTo>
                  <a:pt x="129143" y="113000"/>
                </a:lnTo>
                <a:lnTo>
                  <a:pt x="112316" y="117167"/>
                </a:lnTo>
                <a:cubicBezTo>
                  <a:pt x="109696" y="117793"/>
                  <a:pt x="107950" y="119876"/>
                  <a:pt x="107950" y="122238"/>
                </a:cubicBezTo>
                <a:cubicBezTo>
                  <a:pt x="107950" y="124599"/>
                  <a:pt x="109696" y="126683"/>
                  <a:pt x="112316" y="127308"/>
                </a:cubicBezTo>
                <a:lnTo>
                  <a:pt x="129143" y="131475"/>
                </a:lnTo>
                <a:lnTo>
                  <a:pt x="133906" y="146199"/>
                </a:lnTo>
                <a:cubicBezTo>
                  <a:pt x="134620" y="148491"/>
                  <a:pt x="137001" y="150019"/>
                  <a:pt x="139700" y="150019"/>
                </a:cubicBezTo>
                <a:cubicBezTo>
                  <a:pt x="142399" y="150019"/>
                  <a:pt x="144780" y="148491"/>
                  <a:pt x="145494" y="146199"/>
                </a:cubicBezTo>
                <a:lnTo>
                  <a:pt x="150257" y="131475"/>
                </a:lnTo>
                <a:lnTo>
                  <a:pt x="167084" y="127308"/>
                </a:lnTo>
                <a:cubicBezTo>
                  <a:pt x="169704" y="126683"/>
                  <a:pt x="171450" y="124599"/>
                  <a:pt x="171450" y="122238"/>
                </a:cubicBezTo>
                <a:cubicBezTo>
                  <a:pt x="171450" y="119876"/>
                  <a:pt x="169704" y="117793"/>
                  <a:pt x="167084" y="117167"/>
                </a:cubicBezTo>
                <a:lnTo>
                  <a:pt x="150257" y="113000"/>
                </a:lnTo>
                <a:lnTo>
                  <a:pt x="145494" y="98276"/>
                </a:lnTo>
                <a:close/>
                <a:moveTo>
                  <a:pt x="120650" y="338931"/>
                </a:moveTo>
                <a:lnTo>
                  <a:pt x="120650" y="355600"/>
                </a:lnTo>
                <a:lnTo>
                  <a:pt x="158750" y="355600"/>
                </a:lnTo>
                <a:lnTo>
                  <a:pt x="158750" y="338931"/>
                </a:lnTo>
                <a:cubicBezTo>
                  <a:pt x="158750" y="329694"/>
                  <a:pt x="150257" y="322263"/>
                  <a:pt x="139700" y="322263"/>
                </a:cubicBezTo>
                <a:cubicBezTo>
                  <a:pt x="129143" y="322263"/>
                  <a:pt x="120650" y="329694"/>
                  <a:pt x="120650" y="338931"/>
                </a:cubicBezTo>
                <a:close/>
                <a:moveTo>
                  <a:pt x="215900" y="322263"/>
                </a:moveTo>
                <a:cubicBezTo>
                  <a:pt x="205343" y="322263"/>
                  <a:pt x="196850" y="329694"/>
                  <a:pt x="196850" y="338931"/>
                </a:cubicBezTo>
                <a:lnTo>
                  <a:pt x="196850" y="355600"/>
                </a:lnTo>
                <a:lnTo>
                  <a:pt x="234950" y="355600"/>
                </a:lnTo>
                <a:lnTo>
                  <a:pt x="234950" y="338931"/>
                </a:lnTo>
                <a:cubicBezTo>
                  <a:pt x="234950" y="329694"/>
                  <a:pt x="226457" y="322263"/>
                  <a:pt x="215900" y="322263"/>
                </a:cubicBezTo>
                <a:close/>
              </a:path>
            </a:pathLst>
          </a:custGeom>
          <a:solidFill>
            <a:srgbClr val="C2410C"/>
          </a:solidFill>
        </p:spPr>
      </p:sp>
      <p:sp>
        <p:nvSpPr>
          <p:cNvPr id="18" name="Text 16"/>
          <p:cNvSpPr/>
          <p:nvPr/>
        </p:nvSpPr>
        <p:spPr>
          <a:xfrm>
            <a:off x="1498600" y="50165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子 Agent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6000" y="55245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角色化委派（explorer/planner/general），run-to-end 执行，全局禁止递归创建防止失控。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78500" y="4826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2500" y="5041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3500" y="72231"/>
                </a:moveTo>
                <a:cubicBezTo>
                  <a:pt x="74014" y="72231"/>
                  <a:pt x="82550" y="64762"/>
                  <a:pt x="82550" y="55563"/>
                </a:cubicBezTo>
                <a:cubicBezTo>
                  <a:pt x="82550" y="46363"/>
                  <a:pt x="74014" y="38894"/>
                  <a:pt x="63500" y="38894"/>
                </a:cubicBezTo>
                <a:cubicBezTo>
                  <a:pt x="52986" y="38894"/>
                  <a:pt x="44450" y="46363"/>
                  <a:pt x="44450" y="55563"/>
                </a:cubicBezTo>
                <a:cubicBezTo>
                  <a:pt x="44450" y="64762"/>
                  <a:pt x="52986" y="72231"/>
                  <a:pt x="63500" y="72231"/>
                </a:cubicBezTo>
                <a:close/>
                <a:moveTo>
                  <a:pt x="127000" y="55563"/>
                </a:moveTo>
                <a:cubicBezTo>
                  <a:pt x="127000" y="78343"/>
                  <a:pt x="111363" y="97929"/>
                  <a:pt x="88900" y="106472"/>
                </a:cubicBezTo>
                <a:lnTo>
                  <a:pt x="88900" y="155575"/>
                </a:lnTo>
                <a:lnTo>
                  <a:pt x="228600" y="155575"/>
                </a:lnTo>
                <a:cubicBezTo>
                  <a:pt x="249634" y="155575"/>
                  <a:pt x="266700" y="140643"/>
                  <a:pt x="266700" y="122238"/>
                </a:cubicBezTo>
                <a:lnTo>
                  <a:pt x="266700" y="106472"/>
                </a:lnTo>
                <a:cubicBezTo>
                  <a:pt x="244237" y="97929"/>
                  <a:pt x="228600" y="78343"/>
                  <a:pt x="228600" y="55563"/>
                </a:cubicBezTo>
                <a:cubicBezTo>
                  <a:pt x="228600" y="24864"/>
                  <a:pt x="257016" y="0"/>
                  <a:pt x="292100" y="0"/>
                </a:cubicBezTo>
                <a:cubicBezTo>
                  <a:pt x="327184" y="0"/>
                  <a:pt x="355600" y="24864"/>
                  <a:pt x="355600" y="55563"/>
                </a:cubicBezTo>
                <a:cubicBezTo>
                  <a:pt x="355600" y="78343"/>
                  <a:pt x="339963" y="97929"/>
                  <a:pt x="317500" y="106472"/>
                </a:cubicBezTo>
                <a:lnTo>
                  <a:pt x="317500" y="122238"/>
                </a:lnTo>
                <a:cubicBezTo>
                  <a:pt x="317500" y="165229"/>
                  <a:pt x="277733" y="200025"/>
                  <a:pt x="228600" y="200025"/>
                </a:cubicBezTo>
                <a:lnTo>
                  <a:pt x="88900" y="200025"/>
                </a:lnTo>
                <a:lnTo>
                  <a:pt x="88900" y="249128"/>
                </a:lnTo>
                <a:cubicBezTo>
                  <a:pt x="111363" y="257671"/>
                  <a:pt x="127000" y="277257"/>
                  <a:pt x="127000" y="300038"/>
                </a:cubicBezTo>
                <a:cubicBezTo>
                  <a:pt x="127000" y="330736"/>
                  <a:pt x="98584" y="355600"/>
                  <a:pt x="63500" y="355600"/>
                </a:cubicBezTo>
                <a:cubicBezTo>
                  <a:pt x="28416" y="355600"/>
                  <a:pt x="0" y="330736"/>
                  <a:pt x="0" y="300038"/>
                </a:cubicBezTo>
                <a:cubicBezTo>
                  <a:pt x="0" y="277257"/>
                  <a:pt x="15637" y="257671"/>
                  <a:pt x="38100" y="249128"/>
                </a:cubicBezTo>
                <a:lnTo>
                  <a:pt x="38100" y="106541"/>
                </a:lnTo>
                <a:cubicBezTo>
                  <a:pt x="15637" y="97929"/>
                  <a:pt x="0" y="78343"/>
                  <a:pt x="0" y="55563"/>
                </a:cubicBezTo>
                <a:cubicBezTo>
                  <a:pt x="0" y="24864"/>
                  <a:pt x="28416" y="0"/>
                  <a:pt x="63500" y="0"/>
                </a:cubicBezTo>
                <a:cubicBezTo>
                  <a:pt x="98584" y="0"/>
                  <a:pt x="127000" y="24864"/>
                  <a:pt x="127000" y="55563"/>
                </a:cubicBezTo>
                <a:close/>
                <a:moveTo>
                  <a:pt x="311150" y="55563"/>
                </a:moveTo>
                <a:cubicBezTo>
                  <a:pt x="311150" y="46363"/>
                  <a:pt x="302614" y="38894"/>
                  <a:pt x="292100" y="38894"/>
                </a:cubicBezTo>
                <a:cubicBezTo>
                  <a:pt x="281586" y="38894"/>
                  <a:pt x="273050" y="46363"/>
                  <a:pt x="273050" y="55563"/>
                </a:cubicBezTo>
                <a:cubicBezTo>
                  <a:pt x="273050" y="64762"/>
                  <a:pt x="281586" y="72231"/>
                  <a:pt x="292100" y="72231"/>
                </a:cubicBezTo>
                <a:cubicBezTo>
                  <a:pt x="302614" y="72231"/>
                  <a:pt x="311150" y="64762"/>
                  <a:pt x="311150" y="55563"/>
                </a:cubicBezTo>
                <a:close/>
                <a:moveTo>
                  <a:pt x="63500" y="316706"/>
                </a:moveTo>
                <a:cubicBezTo>
                  <a:pt x="74014" y="316706"/>
                  <a:pt x="82550" y="309237"/>
                  <a:pt x="82550" y="300038"/>
                </a:cubicBezTo>
                <a:cubicBezTo>
                  <a:pt x="82550" y="290838"/>
                  <a:pt x="74014" y="283369"/>
                  <a:pt x="63500" y="283369"/>
                </a:cubicBezTo>
                <a:cubicBezTo>
                  <a:pt x="52986" y="283369"/>
                  <a:pt x="44450" y="290838"/>
                  <a:pt x="44450" y="300038"/>
                </a:cubicBezTo>
                <a:cubicBezTo>
                  <a:pt x="44450" y="309237"/>
                  <a:pt x="52986" y="316706"/>
                  <a:pt x="63500" y="316706"/>
                </a:cubicBezTo>
                <a:close/>
              </a:path>
            </a:pathLst>
          </a:custGeom>
          <a:solidFill>
            <a:srgbClr val="C2410C"/>
          </a:solidFill>
        </p:spPr>
      </p:sp>
      <p:sp>
        <p:nvSpPr>
          <p:cNvPr id="22" name="Text 20"/>
          <p:cNvSpPr/>
          <p:nvPr/>
        </p:nvSpPr>
        <p:spPr>
          <a:xfrm>
            <a:off x="6515100" y="50165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Worktree 隔离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2500" y="55245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 worktree 隔离工作区：create / enter / merge / exit / remove，非破坏性离开。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795000" y="4826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49000" y="5041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44450"/>
                </a:moveTo>
                <a:cubicBezTo>
                  <a:pt x="133350" y="32157"/>
                  <a:pt x="143282" y="22225"/>
                  <a:pt x="155575" y="22225"/>
                </a:cubicBezTo>
                <a:lnTo>
                  <a:pt x="200025" y="22225"/>
                </a:lnTo>
                <a:cubicBezTo>
                  <a:pt x="212318" y="22225"/>
                  <a:pt x="222250" y="32157"/>
                  <a:pt x="222250" y="44450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194469" y="111125"/>
                </a:lnTo>
                <a:lnTo>
                  <a:pt x="194469" y="155575"/>
                </a:lnTo>
                <a:lnTo>
                  <a:pt x="277813" y="155575"/>
                </a:lnTo>
                <a:cubicBezTo>
                  <a:pt x="305455" y="155575"/>
                  <a:pt x="327819" y="177939"/>
                  <a:pt x="327819" y="205581"/>
                </a:cubicBezTo>
                <a:lnTo>
                  <a:pt x="327819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288925" y="333375"/>
                </a:lnTo>
                <a:cubicBezTo>
                  <a:pt x="276632" y="333375"/>
                  <a:pt x="266700" y="323443"/>
                  <a:pt x="266700" y="311150"/>
                </a:cubicBezTo>
                <a:lnTo>
                  <a:pt x="266700" y="266700"/>
                </a:lnTo>
                <a:cubicBezTo>
                  <a:pt x="266700" y="254407"/>
                  <a:pt x="276632" y="244475"/>
                  <a:pt x="288925" y="244475"/>
                </a:cubicBezTo>
                <a:lnTo>
                  <a:pt x="294481" y="244475"/>
                </a:lnTo>
                <a:lnTo>
                  <a:pt x="294481" y="205581"/>
                </a:lnTo>
                <a:cubicBezTo>
                  <a:pt x="294481" y="196344"/>
                  <a:pt x="287050" y="188913"/>
                  <a:pt x="277813" y="188913"/>
                </a:cubicBezTo>
                <a:lnTo>
                  <a:pt x="194469" y="188913"/>
                </a:lnTo>
                <a:lnTo>
                  <a:pt x="194469" y="244475"/>
                </a:lnTo>
                <a:lnTo>
                  <a:pt x="200025" y="244475"/>
                </a:lnTo>
                <a:cubicBezTo>
                  <a:pt x="212318" y="244475"/>
                  <a:pt x="222250" y="254407"/>
                  <a:pt x="222250" y="266700"/>
                </a:cubicBezTo>
                <a:lnTo>
                  <a:pt x="222250" y="311150"/>
                </a:lnTo>
                <a:cubicBezTo>
                  <a:pt x="222250" y="323443"/>
                  <a:pt x="212318" y="333375"/>
                  <a:pt x="200025" y="333375"/>
                </a:cubicBezTo>
                <a:lnTo>
                  <a:pt x="155575" y="333375"/>
                </a:lnTo>
                <a:cubicBezTo>
                  <a:pt x="143282" y="333375"/>
                  <a:pt x="133350" y="323443"/>
                  <a:pt x="133350" y="311150"/>
                </a:cubicBezTo>
                <a:lnTo>
                  <a:pt x="133350" y="266700"/>
                </a:lnTo>
                <a:cubicBezTo>
                  <a:pt x="133350" y="254407"/>
                  <a:pt x="143282" y="244475"/>
                  <a:pt x="155575" y="244475"/>
                </a:cubicBezTo>
                <a:lnTo>
                  <a:pt x="161131" y="244475"/>
                </a:lnTo>
                <a:lnTo>
                  <a:pt x="161131" y="188913"/>
                </a:lnTo>
                <a:lnTo>
                  <a:pt x="77788" y="188913"/>
                </a:lnTo>
                <a:cubicBezTo>
                  <a:pt x="68550" y="188913"/>
                  <a:pt x="61119" y="196344"/>
                  <a:pt x="61119" y="205581"/>
                </a:cubicBezTo>
                <a:lnTo>
                  <a:pt x="61119" y="244475"/>
                </a:lnTo>
                <a:lnTo>
                  <a:pt x="66675" y="244475"/>
                </a:lnTo>
                <a:cubicBezTo>
                  <a:pt x="78968" y="244475"/>
                  <a:pt x="88900" y="254407"/>
                  <a:pt x="88900" y="266700"/>
                </a:cubicBezTo>
                <a:lnTo>
                  <a:pt x="88900" y="311150"/>
                </a:lnTo>
                <a:cubicBezTo>
                  <a:pt x="88900" y="323443"/>
                  <a:pt x="78968" y="333375"/>
                  <a:pt x="6667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66700"/>
                </a:lnTo>
                <a:cubicBezTo>
                  <a:pt x="0" y="254407"/>
                  <a:pt x="9932" y="244475"/>
                  <a:pt x="22225" y="244475"/>
                </a:cubicBezTo>
                <a:lnTo>
                  <a:pt x="27781" y="244475"/>
                </a:lnTo>
                <a:lnTo>
                  <a:pt x="27781" y="205581"/>
                </a:lnTo>
                <a:cubicBezTo>
                  <a:pt x="27781" y="177939"/>
                  <a:pt x="50145" y="155575"/>
                  <a:pt x="77788" y="155575"/>
                </a:cubicBezTo>
                <a:lnTo>
                  <a:pt x="161131" y="155575"/>
                </a:lnTo>
                <a:lnTo>
                  <a:pt x="161131" y="111125"/>
                </a:lnTo>
                <a:lnTo>
                  <a:pt x="155575" y="111125"/>
                </a:lnTo>
                <a:cubicBezTo>
                  <a:pt x="143282" y="111125"/>
                  <a:pt x="133350" y="101193"/>
                  <a:pt x="133350" y="88900"/>
                </a:cubicBezTo>
                <a:lnTo>
                  <a:pt x="133350" y="44450"/>
                </a:lnTo>
                <a:close/>
              </a:path>
            </a:pathLst>
          </a:custGeom>
          <a:solidFill>
            <a:srgbClr val="C2410C"/>
          </a:solidFill>
        </p:spPr>
      </p:sp>
      <p:sp>
        <p:nvSpPr>
          <p:cNvPr id="26" name="Text 24"/>
          <p:cNvSpPr/>
          <p:nvPr/>
        </p:nvSpPr>
        <p:spPr>
          <a:xfrm>
            <a:off x="11531600" y="5016500"/>
            <a:ext cx="368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调度模式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049000" y="55245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双锁激活后剥夺 Lead 的读写/执行工具，注入 10 阶段指挥官工作流，迫使其只委派。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9" name="Text 27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.NET 技术深度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71755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0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1014" y="-13494"/>
                </a:moveTo>
                <a:cubicBezTo>
                  <a:pt x="344382" y="-20955"/>
                  <a:pt x="333657" y="-20955"/>
                  <a:pt x="327096" y="-13494"/>
                </a:cubicBezTo>
                <a:cubicBezTo>
                  <a:pt x="320534" y="-6033"/>
                  <a:pt x="320463" y="6033"/>
                  <a:pt x="327096" y="13414"/>
                </a:cubicBezTo>
                <a:lnTo>
                  <a:pt x="337679" y="25321"/>
                </a:lnTo>
                <a:lnTo>
                  <a:pt x="305153" y="61912"/>
                </a:lnTo>
                <a:lnTo>
                  <a:pt x="260703" y="11906"/>
                </a:lnTo>
                <a:cubicBezTo>
                  <a:pt x="254071" y="4445"/>
                  <a:pt x="243346" y="4445"/>
                  <a:pt x="236784" y="11906"/>
                </a:cubicBezTo>
                <a:cubicBezTo>
                  <a:pt x="230223" y="19367"/>
                  <a:pt x="230152" y="31433"/>
                  <a:pt x="236784" y="38814"/>
                </a:cubicBezTo>
                <a:lnTo>
                  <a:pt x="241723" y="44371"/>
                </a:lnTo>
                <a:lnTo>
                  <a:pt x="186619" y="106363"/>
                </a:lnTo>
                <a:lnTo>
                  <a:pt x="215547" y="138906"/>
                </a:lnTo>
                <a:cubicBezTo>
                  <a:pt x="222179" y="146368"/>
                  <a:pt x="222179" y="158433"/>
                  <a:pt x="215547" y="165814"/>
                </a:cubicBezTo>
                <a:cubicBezTo>
                  <a:pt x="208915" y="173196"/>
                  <a:pt x="198191" y="173276"/>
                  <a:pt x="191629" y="165814"/>
                </a:cubicBezTo>
                <a:lnTo>
                  <a:pt x="162701" y="133271"/>
                </a:lnTo>
                <a:lnTo>
                  <a:pt x="130175" y="169863"/>
                </a:lnTo>
                <a:lnTo>
                  <a:pt x="159103" y="202406"/>
                </a:lnTo>
                <a:cubicBezTo>
                  <a:pt x="165735" y="209868"/>
                  <a:pt x="165735" y="221933"/>
                  <a:pt x="159103" y="229314"/>
                </a:cubicBezTo>
                <a:cubicBezTo>
                  <a:pt x="152471" y="236696"/>
                  <a:pt x="141746" y="236776"/>
                  <a:pt x="135184" y="229314"/>
                </a:cubicBezTo>
                <a:lnTo>
                  <a:pt x="106257" y="196771"/>
                </a:lnTo>
                <a:lnTo>
                  <a:pt x="79657" y="226695"/>
                </a:lnTo>
                <a:cubicBezTo>
                  <a:pt x="72249" y="235029"/>
                  <a:pt x="68086" y="246301"/>
                  <a:pt x="68086" y="258128"/>
                </a:cubicBezTo>
                <a:lnTo>
                  <a:pt x="68086" y="328613"/>
                </a:lnTo>
                <a:lnTo>
                  <a:pt x="27869" y="373856"/>
                </a:lnTo>
                <a:cubicBezTo>
                  <a:pt x="21237" y="381317"/>
                  <a:pt x="21237" y="393383"/>
                  <a:pt x="27869" y="400764"/>
                </a:cubicBezTo>
                <a:cubicBezTo>
                  <a:pt x="34502" y="408146"/>
                  <a:pt x="45226" y="408226"/>
                  <a:pt x="51788" y="400764"/>
                </a:cubicBezTo>
                <a:lnTo>
                  <a:pt x="92004" y="355521"/>
                </a:lnTo>
                <a:lnTo>
                  <a:pt x="154658" y="355521"/>
                </a:lnTo>
                <a:cubicBezTo>
                  <a:pt x="165171" y="355521"/>
                  <a:pt x="175189" y="350838"/>
                  <a:pt x="182598" y="342503"/>
                </a:cubicBezTo>
                <a:lnTo>
                  <a:pt x="344664" y="160179"/>
                </a:lnTo>
                <a:lnTo>
                  <a:pt x="349603" y="165735"/>
                </a:lnTo>
                <a:cubicBezTo>
                  <a:pt x="356235" y="173196"/>
                  <a:pt x="366959" y="173196"/>
                  <a:pt x="373521" y="165735"/>
                </a:cubicBezTo>
                <a:cubicBezTo>
                  <a:pt x="380083" y="158274"/>
                  <a:pt x="380153" y="146209"/>
                  <a:pt x="373521" y="138827"/>
                </a:cubicBezTo>
                <a:lnTo>
                  <a:pt x="329071" y="88821"/>
                </a:lnTo>
                <a:lnTo>
                  <a:pt x="361597" y="52229"/>
                </a:lnTo>
                <a:lnTo>
                  <a:pt x="372181" y="64135"/>
                </a:lnTo>
                <a:cubicBezTo>
                  <a:pt x="378813" y="71596"/>
                  <a:pt x="389537" y="71596"/>
                  <a:pt x="396099" y="64135"/>
                </a:cubicBezTo>
                <a:cubicBezTo>
                  <a:pt x="402661" y="56674"/>
                  <a:pt x="402731" y="44609"/>
                  <a:pt x="396099" y="37227"/>
                </a:cubicBezTo>
                <a:lnTo>
                  <a:pt x="350943" y="-13573"/>
                </a:lnTo>
                <a:close/>
              </a:path>
            </a:pathLst>
          </a:custGeom>
          <a:solidFill>
            <a:srgbClr val="C2410C"/>
          </a:solidFill>
        </p:spPr>
      </p:sp>
      <p:sp>
        <p:nvSpPr>
          <p:cNvPr id="6" name="Text 4"/>
          <p:cNvSpPr/>
          <p:nvPr/>
        </p:nvSpPr>
        <p:spPr>
          <a:xfrm>
            <a:off x="1574800" y="1625600"/>
            <a:ext cx="254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依赖注入（DI）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21590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所有组件构造注入。可选能力用可空构造参数，缺省即关闭——同一 AgentLoop 既能全功能跑，也能在测试中以最小依赖跑。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18500" y="1460500"/>
            <a:ext cx="71755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72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C2410C"/>
          </a:solidFill>
        </p:spPr>
      </p:sp>
      <p:sp>
        <p:nvSpPr>
          <p:cNvPr id="10" name="Text 8"/>
          <p:cNvSpPr/>
          <p:nvPr/>
        </p:nvSpPr>
        <p:spPr>
          <a:xfrm>
            <a:off x="9131300" y="16256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Generic Host + 配置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72500" y="21590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Host.CreateApplicationBuilder 统一装配。分层配置：全局/项目 JSON → 环境变量 → UserSecrets，API Key 不进仓库。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2000" y="3556000"/>
            <a:ext cx="71755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000" y="374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50800"/>
                </a:moveTo>
                <a:cubicBezTo>
                  <a:pt x="0" y="22781"/>
                  <a:pt x="30374" y="0"/>
                  <a:pt x="67733" y="0"/>
                </a:cubicBezTo>
                <a:lnTo>
                  <a:pt x="225954" y="0"/>
                </a:lnTo>
                <a:cubicBezTo>
                  <a:pt x="243946" y="0"/>
                  <a:pt x="261197" y="5318"/>
                  <a:pt x="273897" y="14843"/>
                </a:cubicBezTo>
                <a:lnTo>
                  <a:pt x="386609" y="99457"/>
                </a:lnTo>
                <a:cubicBezTo>
                  <a:pt x="399309" y="108982"/>
                  <a:pt x="406400" y="121920"/>
                  <a:pt x="406400" y="135414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220133" y="46434"/>
                </a:moveTo>
                <a:lnTo>
                  <a:pt x="220133" y="120650"/>
                </a:lnTo>
                <a:cubicBezTo>
                  <a:pt x="220133" y="131207"/>
                  <a:pt x="231457" y="139700"/>
                  <a:pt x="245533" y="139700"/>
                </a:cubicBezTo>
                <a:lnTo>
                  <a:pt x="344487" y="139700"/>
                </a:lnTo>
                <a:lnTo>
                  <a:pt x="220133" y="46434"/>
                </a:lnTo>
                <a:close/>
                <a:moveTo>
                  <a:pt x="127000" y="203200"/>
                </a:moveTo>
                <a:cubicBezTo>
                  <a:pt x="112924" y="203200"/>
                  <a:pt x="101600" y="211693"/>
                  <a:pt x="101600" y="222250"/>
                </a:cubicBezTo>
                <a:cubicBezTo>
                  <a:pt x="101600" y="232807"/>
                  <a:pt x="112924" y="241300"/>
                  <a:pt x="127000" y="241300"/>
                </a:cubicBezTo>
                <a:lnTo>
                  <a:pt x="279400" y="241300"/>
                </a:lnTo>
                <a:cubicBezTo>
                  <a:pt x="293476" y="241300"/>
                  <a:pt x="304800" y="232807"/>
                  <a:pt x="304800" y="222250"/>
                </a:cubicBezTo>
                <a:cubicBezTo>
                  <a:pt x="304800" y="211693"/>
                  <a:pt x="293476" y="203200"/>
                  <a:pt x="279400" y="203200"/>
                </a:cubicBezTo>
                <a:lnTo>
                  <a:pt x="127000" y="203200"/>
                </a:lnTo>
                <a:close/>
                <a:moveTo>
                  <a:pt x="127000" y="279400"/>
                </a:moveTo>
                <a:cubicBezTo>
                  <a:pt x="112924" y="279400"/>
                  <a:pt x="101600" y="287893"/>
                  <a:pt x="101600" y="298450"/>
                </a:cubicBezTo>
                <a:cubicBezTo>
                  <a:pt x="101600" y="309007"/>
                  <a:pt x="112924" y="317500"/>
                  <a:pt x="127000" y="317500"/>
                </a:cubicBezTo>
                <a:lnTo>
                  <a:pt x="279400" y="317500"/>
                </a:lnTo>
                <a:cubicBezTo>
                  <a:pt x="293476" y="317500"/>
                  <a:pt x="304800" y="309007"/>
                  <a:pt x="304800" y="298450"/>
                </a:cubicBezTo>
                <a:cubicBezTo>
                  <a:pt x="304800" y="287893"/>
                  <a:pt x="293476" y="279400"/>
                  <a:pt x="279400" y="279400"/>
                </a:cubicBezTo>
                <a:lnTo>
                  <a:pt x="127000" y="279400"/>
                </a:lnTo>
                <a:close/>
              </a:path>
            </a:pathLst>
          </a:custGeom>
          <a:solidFill>
            <a:srgbClr val="C2410C"/>
          </a:solidFill>
        </p:spPr>
      </p:sp>
      <p:sp>
        <p:nvSpPr>
          <p:cNvPr id="14" name="Text 12"/>
          <p:cNvSpPr/>
          <p:nvPr/>
        </p:nvSpPr>
        <p:spPr>
          <a:xfrm>
            <a:off x="1574800" y="3721100"/>
            <a:ext cx="254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Serilog 日志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6000" y="42545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滚动文件日志（~/.vesticode/logs/）+ 构建期自举 logger，全程可追踪。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18500" y="3556000"/>
            <a:ext cx="7175500" cy="1778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</p:spPr>
      </p:sp>
      <p:sp>
        <p:nvSpPr>
          <p:cNvPr id="17" name="Shape 15"/>
          <p:cNvSpPr/>
          <p:nvPr/>
        </p:nvSpPr>
        <p:spPr>
          <a:xfrm>
            <a:off x="8572500" y="374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C2410C"/>
          </a:solidFill>
        </p:spPr>
      </p:sp>
      <p:sp>
        <p:nvSpPr>
          <p:cNvPr id="18" name="Text 16"/>
          <p:cNvSpPr/>
          <p:nvPr/>
        </p:nvSpPr>
        <p:spPr>
          <a:xfrm>
            <a:off x="9131300" y="37211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异步五件套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72500" y="42545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IAsyncEnumerable 流式 · Task.WhenAll 并发 · SemaphoreSlim 串行 · TaskCompletionSource 握手 · CancellationToken 取消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2000" y="5715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</p:spPr>
      </p:sp>
      <p:sp>
        <p:nvSpPr>
          <p:cNvPr id="21" name="Text 19"/>
          <p:cNvSpPr/>
          <p:nvPr/>
        </p:nvSpPr>
        <p:spPr>
          <a:xfrm>
            <a:off x="1016000" y="5842000"/>
            <a:ext cx="14224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为什么用 async/await？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这些操作全是 I/O 等待型的——LLM 请求、文件读写、命令执行。await 在等待时把线程还给线程池，界面不卡、还能随时响应中断。这是性能与响应性的核心，不是装饰。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3" name="Text 21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064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3" name="Text 1"/>
          <p:cNvSpPr/>
          <p:nvPr/>
        </p:nvSpPr>
        <p:spPr>
          <a:xfrm>
            <a:off x="965200" y="5842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关键设计决策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62000" y="1397000"/>
          <a:ext cx="14732000" cy="5461000"/>
        </p:xfrm>
        <a:graphic>
          <a:graphicData uri="http://schemas.openxmlformats.org/drawingml/2006/table">
            <a:tbl>
              <a:tblPr/>
              <a:tblGrid>
                <a:gridCol w="5156200"/>
                <a:gridCol w="9575800"/>
              </a:tblGrid>
              <a:tr h="5461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决策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理由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循环返回 </a:t>
                      </a:r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IAsyncEnumerable&lt;AgentEvent&gt;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天然支持流式输出 + 推理过程可观测，调用方实时消费事件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事件驱动、UI 解耦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可换任意前端（Web/桌面），核心逻辑可被单元测试独立验证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读并发 / 写串行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只读工具无副作用 → Task.WhenAll 并发提速；写类有副作用 → 串行防竞态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HITL 用 </a:t>
                      </a:r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TaskCompletionSource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不阻塞线程地等待用户按键，界面保持响应，Esc 可随时中断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多 Agent 用 git worktree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物理隔离工作目录 + 独立分支，避免文件冲突；merge 汇总产出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Provider 最小配置 + catalog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用户只配 Name/Model/ApiKey；加新后端只需在 providers.json 加一行，零改码</a:t>
                      </a:r>
                      <a:endParaRPr lang="en-US" sz="1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7" name="Text 4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606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系统演示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3352800"/>
            <a:ext cx="2540000" cy="381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5" name="Shape 3"/>
          <p:cNvSpPr/>
          <p:nvPr/>
        </p:nvSpPr>
        <p:spPr>
          <a:xfrm>
            <a:off x="762000" y="39624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</p:spPr>
      </p:sp>
      <p:sp>
        <p:nvSpPr>
          <p:cNvPr id="6" name="Text 4"/>
          <p:cNvSpPr/>
          <p:nvPr/>
        </p:nvSpPr>
        <p:spPr>
          <a:xfrm>
            <a:off x="1016000" y="40894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演示目标：</a:t>
            </a: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 VestiCode 自主构建一个全栈 LLM 聊天应用（C# 后端 + 前端）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8737600"/>
            <a:ext cx="16256000" cy="4064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4" name="Text 22"/>
          <p:cNvSpPr/>
          <p:nvPr/>
        </p:nvSpPr>
        <p:spPr>
          <a:xfrm>
            <a:off x="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241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482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代码解读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723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子系统设计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964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高级特性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620500" y="8737600"/>
            <a:ext cx="23241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演示与总结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240000" y="8382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总结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62000" y="2222500"/>
            <a:ext cx="2540000" cy="38100"/>
          </a:xfrm>
          <a:prstGeom prst="rect">
            <a:avLst/>
          </a:prstGeom>
          <a:solidFill>
            <a:srgbClr val="C2410C"/>
          </a:solidFill>
        </p:spPr>
      </p:sp>
      <p:sp>
        <p:nvSpPr>
          <p:cNvPr id="4" name="Text 2"/>
          <p:cNvSpPr/>
          <p:nvPr/>
        </p:nvSpPr>
        <p:spPr>
          <a:xfrm>
            <a:off x="762000" y="2540000"/>
            <a:ext cx="13970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VestiCode：一个</a:t>
            </a:r>
            <a:r>
              <a:rPr lang="en-US" sz="2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完整、可用、可解释</a:t>
            </a:r>
            <a:r>
              <a:rPr lang="en-US" sz="2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的 .NET 自主编码 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16000" y="3492500"/>
            <a:ext cx="1397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必备要素全部覆盖；多 Agent / 单测 / 流式 / 可观测 加分项落地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4025900"/>
            <a:ext cx="1397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核心是 </a:t>
            </a: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AgentLoop</a:t>
            </a: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的 ReAct 循环 —— 每一行都可解释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4559300"/>
            <a:ext cx="1397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配套文档：ARCHITECTURE.md · REFLECTION.md · DEMO.md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5842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谢谢，请老师提问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2410C"/>
          </a:solid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6458</Words>
  <Application>WPS 演示</Application>
  <PresentationFormat>On-screen Show (16:9)</PresentationFormat>
  <Paragraphs>590</Paragraphs>
  <Slides>18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9" baseType="lpstr">
      <vt:lpstr>Arial</vt:lpstr>
      <vt:lpstr>宋体</vt:lpstr>
      <vt:lpstr>Wingdings</vt:lpstr>
      <vt:lpstr>Liter</vt:lpstr>
      <vt:lpstr>苹方-简</vt:lpstr>
      <vt:lpstr>Liter</vt:lpstr>
      <vt:lpstr>Liter</vt:lpstr>
      <vt:lpstr>Quattrocento Sans</vt:lpstr>
      <vt:lpstr>Quattrocento Sans</vt:lpstr>
      <vt:lpstr>Quattrocento Sans</vt:lpstr>
      <vt:lpstr>Calibri</vt:lpstr>
      <vt:lpstr>Helvetica Neue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VestiCode - 基于 .NET 10 的终端自主编码 AI Agent</dc:title>
  <dc:creator>Kimi</dc:creator>
  <dc:subject>VestiCode - 基于 .NET 10 的终端自主编码 AI Agent</dc:subject>
  <cp:lastModifiedBy>不弃</cp:lastModifiedBy>
  <cp:revision>2</cp:revision>
  <dcterms:created xsi:type="dcterms:W3CDTF">2026-06-25T04:56:24Z</dcterms:created>
  <dcterms:modified xsi:type="dcterms:W3CDTF">2026-06-25T04:56:24Z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{"Label":"VestiCode - 基于 .NET 10 的终端自主编码 AI Agent","ContentProducer":"001191110108MACG2KBH8F10000","ProduceID":"19efb560-3192-85f0-8000-00009c9b421b","ReservedCode1":"","ContentPropagator":"001191110108MACG2KBH8F20000","PropagateID":"19efb50c-d8b2-874b-8000-0961f86ed437","ReservedCode2":""}</vt:lpwstr>
  </property>
  <property fmtid="{D5CDD505-2E9C-101B-9397-08002B2CF9AE}" pid="3" name="KSOProductBuildVer">
    <vt:lpwstr>2052-12.1.24031.24031</vt:lpwstr>
  </property>
  <property fmtid="{D5CDD505-2E9C-101B-9397-08002B2CF9AE}" pid="4" name="ICV">
    <vt:lpwstr>EF8654C9F2011E02F8B43C6A4F2A4A98_42</vt:lpwstr>
  </property>
</Properties>
</file>